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1pPr>
    <a:lvl2pPr marL="0" marR="0" indent="4572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2pPr>
    <a:lvl3pPr marL="0" marR="0" indent="9144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3pPr>
    <a:lvl4pPr marL="0" marR="0" indent="13716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4pPr>
    <a:lvl5pPr marL="0" marR="0" indent="18288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5pPr>
    <a:lvl6pPr marL="0" marR="0" indent="22860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6pPr>
    <a:lvl7pPr marL="0" marR="0" indent="27432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7pPr>
    <a:lvl8pPr marL="0" marR="0" indent="32004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8pPr>
    <a:lvl9pPr marL="0" marR="0" indent="36576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0F0F0"/>
    <a:srgbClr val="B126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E5E5E"/>
        </a:fontRef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84F64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084F64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84F64"/>
              </a:solidFill>
              <a:prstDash val="solid"/>
              <a:miter lim="400000"/>
            </a:ln>
          </a:bottom>
          <a:insideH>
            <a:ln w="3175" cap="flat">
              <a:solidFill>
                <a:srgbClr val="084F64"/>
              </a:solidFill>
              <a:prstDash val="solid"/>
              <a:miter lim="400000"/>
            </a:ln>
          </a:insideH>
          <a:insideV>
            <a:ln w="3175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1">
              <a:satOff val="3942"/>
              <a:lumOff val="17322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0EAF0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84F64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chemeClr val="accent6"/>
        </a:fontRef>
        <a:schemeClr val="accent6"/>
      </a:tcTxStyle>
      <a:tcStyle>
        <a:tcBdr>
          <a:left>
            <a:ln w="3175" cap="flat">
              <a:solidFill>
                <a:srgbClr val="084F64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84F64"/>
              </a:solidFill>
              <a:prstDash val="solid"/>
              <a:miter lim="400000"/>
            </a:ln>
          </a:bottom>
          <a:insideH>
            <a:ln w="3175" cap="flat">
              <a:solidFill>
                <a:srgbClr val="084F64"/>
              </a:solidFill>
              <a:prstDash val="solid"/>
              <a:miter lim="400000"/>
            </a:ln>
          </a:insideH>
          <a:insideV>
            <a:ln w="3175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35454"/>
              <a:satOff val="2115"/>
              <a:lumOff val="45487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C526A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CB5B2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C526A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3B3B3B"/>
              </a:solidFill>
              <a:prstDash val="solid"/>
              <a:miter lim="400000"/>
            </a:ln>
          </a:left>
          <a:right>
            <a:ln w="3175" cap="flat">
              <a:solidFill>
                <a:srgbClr val="3B3B3B"/>
              </a:solidFill>
              <a:prstDash val="solid"/>
              <a:miter lim="400000"/>
            </a:ln>
          </a:right>
          <a:top>
            <a:ln w="3175" cap="flat">
              <a:solidFill>
                <a:srgbClr val="5C526A"/>
              </a:solidFill>
              <a:prstDash val="solid"/>
              <a:miter lim="400000"/>
            </a:ln>
          </a:top>
          <a:bottom>
            <a:ln w="3175" cap="flat">
              <a:solidFill>
                <a:srgbClr val="3B3B3B"/>
              </a:solidFill>
              <a:prstDash val="solid"/>
              <a:miter lim="400000"/>
            </a:ln>
          </a:bottom>
          <a:insideH>
            <a:ln w="3175" cap="flat">
              <a:solidFill>
                <a:srgbClr val="3B3B3B"/>
              </a:solidFill>
              <a:prstDash val="solid"/>
              <a:miter lim="400000"/>
            </a:ln>
          </a:insideH>
          <a:insideV>
            <a:ln w="3175" cap="flat">
              <a:solidFill>
                <a:srgbClr val="3B3B3B"/>
              </a:solidFill>
              <a:prstDash val="solid"/>
              <a:miter lim="400000"/>
            </a:ln>
          </a:insideV>
        </a:tcBdr>
        <a:fill>
          <a:solidFill>
            <a:srgbClr val="C16E6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CDCECC"/>
          </a:solidFill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D2F24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4660"/>
  </p:normalViewPr>
  <p:slideViewPr>
    <p:cSldViewPr snapToGrid="0">
      <p:cViewPr varScale="1">
        <p:scale>
          <a:sx n="17" d="100"/>
          <a:sy n="17" d="100"/>
        </p:scale>
        <p:origin x="29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7585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gomen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5917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/>
            </a:lvl1pPr>
          </a:lstStyle>
          <a:p>
            <a:r>
              <a:t>Argomento</a:t>
            </a:r>
          </a:p>
        </p:txBody>
      </p:sp>
      <p:sp>
        <p:nvSpPr>
          <p:cNvPr id="12" name="Luogo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22635024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/>
            </a:lvl1pPr>
          </a:lstStyle>
          <a:p>
            <a:r>
              <a:t>Luogo</a:t>
            </a:r>
          </a:p>
        </p:txBody>
      </p:sp>
      <p:sp>
        <p:nvSpPr>
          <p:cNvPr id="13" name="Autore e data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8622115" y="28071787"/>
            <a:ext cx="13019870" cy="877029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/>
            </a:lvl1pPr>
          </a:lstStyle>
          <a:p>
            <a:r>
              <a:t>Autore e data</a:t>
            </a:r>
          </a:p>
        </p:txBody>
      </p:sp>
      <p:sp>
        <p:nvSpPr>
          <p:cNvPr id="14" name="Titolo presentazion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presentazione</a:t>
            </a:r>
          </a:p>
        </p:txBody>
      </p:sp>
      <p:sp>
        <p:nvSpPr>
          <p:cNvPr id="15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ila di sette piccoli orologi retrò su uno scaffale verde contro uno sfondo giallo"/>
          <p:cNvSpPr>
            <a:spLocks noGrp="1"/>
          </p:cNvSpPr>
          <p:nvPr>
            <p:ph type="pic" idx="21"/>
          </p:nvPr>
        </p:nvSpPr>
        <p:spPr>
          <a:xfrm>
            <a:off x="-1" y="9465706"/>
            <a:ext cx="30264101" cy="238675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4" name="Argomento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5917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>
                <a:solidFill>
                  <a:srgbClr val="FFFFFF"/>
                </a:solidFill>
              </a:defRPr>
            </a:lvl1pPr>
          </a:lstStyle>
          <a:p>
            <a:r>
              <a:t>Argomento</a:t>
            </a:r>
          </a:p>
        </p:txBody>
      </p:sp>
      <p:sp>
        <p:nvSpPr>
          <p:cNvPr id="25" name="Luogo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22635024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>
                <a:solidFill>
                  <a:srgbClr val="FFFFFF"/>
                </a:solidFill>
              </a:defRPr>
            </a:lvl1pPr>
          </a:lstStyle>
          <a:p>
            <a:r>
              <a:t>Luogo</a:t>
            </a:r>
          </a:p>
        </p:txBody>
      </p:sp>
      <p:sp>
        <p:nvSpPr>
          <p:cNvPr id="26" name="Autore e data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8622115" y="28071787"/>
            <a:ext cx="13019870" cy="877029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>
                <a:solidFill>
                  <a:srgbClr val="FFFFFF"/>
                </a:solidFill>
              </a:defRPr>
            </a:lvl1pPr>
          </a:lstStyle>
          <a:p>
            <a:r>
              <a:t>Autore e data</a:t>
            </a:r>
          </a:p>
        </p:txBody>
      </p:sp>
      <p:sp>
        <p:nvSpPr>
          <p:cNvPr id="27" name="Linea"/>
          <p:cNvSpPr/>
          <p:nvPr/>
        </p:nvSpPr>
        <p:spPr>
          <a:xfrm>
            <a:off x="951808" y="27856891"/>
            <a:ext cx="28360481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" name="Linea"/>
          <p:cNvSpPr/>
          <p:nvPr/>
        </p:nvSpPr>
        <p:spPr>
          <a:xfrm flipV="1">
            <a:off x="8101951" y="27824362"/>
            <a:ext cx="1" cy="1383857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" name="Linea"/>
          <p:cNvSpPr/>
          <p:nvPr/>
        </p:nvSpPr>
        <p:spPr>
          <a:xfrm flipV="1">
            <a:off x="22162148" y="27824362"/>
            <a:ext cx="1" cy="1383857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7222423"/>
            <a:ext cx="25078222" cy="20018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" name="Titolo presentazion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presentazione</a:t>
            </a:r>
          </a:p>
        </p:txBody>
      </p:sp>
      <p:sp>
        <p:nvSpPr>
          <p:cNvPr id="3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76254" y="22836643"/>
            <a:ext cx="14627650" cy="4776054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8AACB9"/>
                </a:solidFill>
              </a:defRPr>
            </a:lvl1pPr>
            <a:lvl2pPr>
              <a:defRPr>
                <a:solidFill>
                  <a:srgbClr val="8AACB9"/>
                </a:solidFill>
              </a:defRPr>
            </a:lvl2pPr>
            <a:lvl3pPr>
              <a:defRPr>
                <a:solidFill>
                  <a:srgbClr val="8AACB9"/>
                </a:solidFill>
              </a:defRPr>
            </a:lvl3pPr>
            <a:lvl4pPr>
              <a:defRPr>
                <a:solidFill>
                  <a:srgbClr val="8AACB9"/>
                </a:solidFill>
              </a:defRPr>
            </a:lvl4pPr>
            <a:lvl5pPr>
              <a:defRPr>
                <a:solidFill>
                  <a:srgbClr val="8AACB9"/>
                </a:solidFill>
              </a:defRPr>
            </a:lvl5pPr>
          </a:lstStyle>
          <a:p>
            <a:r>
              <a:t>Sottotitolo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" name="Titolo"/>
          <p:cNvSpPr txBox="1">
            <a:spLocks noGrp="1"/>
          </p:cNvSpPr>
          <p:nvPr>
            <p:ph type="title" hasCustomPrompt="1"/>
          </p:nvPr>
        </p:nvSpPr>
        <p:spPr>
          <a:xfrm>
            <a:off x="1576254" y="19000883"/>
            <a:ext cx="14627650" cy="3641151"/>
          </a:xfrm>
          <a:prstGeom prst="rect">
            <a:avLst/>
          </a:prstGeom>
        </p:spPr>
        <p:txBody>
          <a:bodyPr anchor="b"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42" name="Macchina da scrivere rosa su una cassettiera a tre cassetti del medesimo colore di fronte a una parete rosa"/>
          <p:cNvSpPr>
            <a:spLocks noGrp="1"/>
          </p:cNvSpPr>
          <p:nvPr>
            <p:ph type="pic" sz="half" idx="21"/>
          </p:nvPr>
        </p:nvSpPr>
        <p:spPr>
          <a:xfrm>
            <a:off x="15888651" y="15240558"/>
            <a:ext cx="21896550" cy="12317886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3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094618"/>
            <a:ext cx="25079992" cy="7796951"/>
          </a:xfrm>
          <a:prstGeom prst="rect">
            <a:avLst/>
          </a:prstGeom>
        </p:spPr>
        <p:txBody>
          <a:bodyPr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" name="Titolo"/>
          <p:cNvSpPr txBox="1">
            <a:spLocks noGrp="1"/>
          </p:cNvSpPr>
          <p:nvPr>
            <p:ph type="title" hasCustomPrompt="1"/>
          </p:nvPr>
        </p:nvSpPr>
        <p:spPr>
          <a:xfrm>
            <a:off x="2592054" y="14479739"/>
            <a:ext cx="25079993" cy="2047532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5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094618"/>
            <a:ext cx="25079992" cy="7796951"/>
          </a:xfrm>
          <a:prstGeom prst="rect">
            <a:avLst/>
          </a:prstGeom>
        </p:spPr>
        <p:txBody>
          <a:bodyPr numCol="2" spcCol="1600062"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5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olo"/>
          <p:cNvSpPr txBox="1">
            <a:spLocks noGrp="1"/>
          </p:cNvSpPr>
          <p:nvPr>
            <p:ph type="title" hasCustomPrompt="1"/>
          </p:nvPr>
        </p:nvSpPr>
        <p:spPr>
          <a:xfrm>
            <a:off x="1576254" y="15185359"/>
            <a:ext cx="14627650" cy="5070002"/>
          </a:xfrm>
          <a:prstGeom prst="rect">
            <a:avLst/>
          </a:prstGeom>
        </p:spPr>
        <p:txBody>
          <a:bodyPr anchor="b"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74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92052" y="21228575"/>
            <a:ext cx="13618846" cy="6785554"/>
          </a:xfrm>
          <a:prstGeom prst="rect">
            <a:avLst/>
          </a:prstGeom>
        </p:spPr>
        <p:txBody>
          <a:bodyPr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" name="Televisore vintage con carta da parati a fantasia di colore giallo"/>
          <p:cNvSpPr>
            <a:spLocks noGrp="1"/>
          </p:cNvSpPr>
          <p:nvPr>
            <p:ph type="pic" sz="quarter" idx="21"/>
          </p:nvPr>
        </p:nvSpPr>
        <p:spPr>
          <a:xfrm>
            <a:off x="15715264" y="9782499"/>
            <a:ext cx="13748888" cy="18331849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7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olo sezione"/>
          <p:cNvSpPr txBox="1">
            <a:spLocks noGrp="1"/>
          </p:cNvSpPr>
          <p:nvPr>
            <p:ph type="title" hasCustomPrompt="1"/>
          </p:nvPr>
        </p:nvSpPr>
        <p:spPr>
          <a:xfrm>
            <a:off x="2589162" y="18215464"/>
            <a:ext cx="25078222" cy="701433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t>Titolo sezione</a:t>
            </a:r>
          </a:p>
        </p:txBody>
      </p:sp>
      <p:sp>
        <p:nvSpPr>
          <p:cNvPr id="86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5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5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6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7" name="Titolo"/>
          <p:cNvSpPr txBox="1">
            <a:spLocks noGrp="1"/>
          </p:cNvSpPr>
          <p:nvPr>
            <p:ph type="title" hasCustomPrompt="1"/>
          </p:nvPr>
        </p:nvSpPr>
        <p:spPr>
          <a:xfrm>
            <a:off x="2585058" y="14479739"/>
            <a:ext cx="25078222" cy="2049133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9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ottotitolo programm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85058" y="16356838"/>
            <a:ext cx="25078222" cy="750929"/>
          </a:xfrm>
          <a:prstGeom prst="rect">
            <a:avLst/>
          </a:prstGeom>
        </p:spPr>
        <p:txBody>
          <a:bodyPr lIns="0" tIns="0" rIns="0" bIns="0" anchor="ctr"/>
          <a:lstStyle>
            <a:lvl1pPr defTabSz="765626">
              <a:defRPr sz="4452" spc="133">
                <a:solidFill>
                  <a:srgbClr val="8AACB9"/>
                </a:solidFill>
              </a:defRPr>
            </a:lvl1pPr>
          </a:lstStyle>
          <a:p>
            <a:r>
              <a:t>Sottotitolo programma</a:t>
            </a:r>
          </a:p>
        </p:txBody>
      </p:sp>
      <p:sp>
        <p:nvSpPr>
          <p:cNvPr id="106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7921516"/>
            <a:ext cx="25078222" cy="8354154"/>
          </a:xfrm>
          <a:prstGeom prst="rect">
            <a:avLst/>
          </a:prstGeom>
        </p:spPr>
        <p:txBody>
          <a:bodyPr anchor="t"/>
          <a:lstStyle>
            <a:lvl1pPr marL="554801" indent="-554801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554801" indent="-97601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554801" indent="3595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554801" indent="8167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554801" indent="12739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Argomenti del programma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Titolo programma"/>
          <p:cNvSpPr txBox="1">
            <a:spLocks noGrp="1"/>
          </p:cNvSpPr>
          <p:nvPr>
            <p:ph type="title" hasCustomPrompt="1"/>
          </p:nvPr>
        </p:nvSpPr>
        <p:spPr>
          <a:xfrm>
            <a:off x="2585058" y="14479739"/>
            <a:ext cx="25078222" cy="2049133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</a:lstStyle>
          <a:p>
            <a:r>
              <a:t>Titolo programma</a:t>
            </a:r>
          </a:p>
        </p:txBody>
      </p:sp>
      <p:sp>
        <p:nvSpPr>
          <p:cNvPr id="108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bg>
      <p:bgPr>
        <a:solidFill>
          <a:srgbClr val="F3F5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271171"/>
            <a:ext cx="25078222" cy="58321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Dichiarazione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8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9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bg>
      <p:bgPr>
        <a:solidFill>
          <a:srgbClr val="F3F5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4761584"/>
            <a:ext cx="25078222" cy="850469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Dettagli informa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85058" y="23323269"/>
            <a:ext cx="25078222" cy="861424"/>
          </a:xfrm>
          <a:prstGeom prst="rect">
            <a:avLst/>
          </a:prstGeom>
        </p:spPr>
        <p:txBody>
          <a:bodyPr anchor="t"/>
          <a:lstStyle>
            <a:lvl1pPr defTabSz="765626">
              <a:defRPr sz="4452" spc="133">
                <a:solidFill>
                  <a:schemeClr val="accent1"/>
                </a:solidFill>
              </a:defRPr>
            </a:lvl1pPr>
          </a:lstStyle>
          <a:p>
            <a:r>
              <a:t>Dettagli informazione</a:t>
            </a:r>
          </a:p>
        </p:txBody>
      </p:sp>
      <p:sp>
        <p:nvSpPr>
          <p:cNvPr id="12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0" name="Linea"/>
          <p:cNvSpPr/>
          <p:nvPr/>
        </p:nvSpPr>
        <p:spPr>
          <a:xfrm>
            <a:off x="951808" y="28524175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1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bg>
      <p:bgPr>
        <a:solidFill>
          <a:srgbClr val="FFC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ttribu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92054" y="27006453"/>
            <a:ext cx="25079992" cy="877030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>
                <a:solidFill>
                  <a:schemeClr val="accent1"/>
                </a:solidFill>
              </a:defRPr>
            </a:lvl1pPr>
          </a:lstStyle>
          <a:p>
            <a:r>
              <a:t>Attribuzione</a:t>
            </a:r>
          </a:p>
        </p:txBody>
      </p:sp>
      <p:sp>
        <p:nvSpPr>
          <p:cNvPr id="13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0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1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92054" y="18223247"/>
            <a:ext cx="25079993" cy="58321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“Citazione degna di nota”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cchina da scrivere rosa su una cassettiera a tre cassetti del medesimo colore di fronte a una parete rosa"/>
          <p:cNvSpPr>
            <a:spLocks noGrp="1"/>
          </p:cNvSpPr>
          <p:nvPr>
            <p:ph type="pic" sz="half" idx="21"/>
          </p:nvPr>
        </p:nvSpPr>
        <p:spPr>
          <a:xfrm>
            <a:off x="-756603" y="13423648"/>
            <a:ext cx="26702932" cy="15021714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0" name="Audiocassetta turchese acceso su sfondo rosa"/>
          <p:cNvSpPr>
            <a:spLocks noGrp="1"/>
          </p:cNvSpPr>
          <p:nvPr>
            <p:ph type="pic" sz="quarter" idx="22"/>
          </p:nvPr>
        </p:nvSpPr>
        <p:spPr>
          <a:xfrm>
            <a:off x="19655902" y="12635520"/>
            <a:ext cx="9615158" cy="9615159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1" name="Orologio retrò di piccole dimensioni su uno scaffale verde contro uno sfondo giallo"/>
          <p:cNvSpPr>
            <a:spLocks noGrp="1"/>
          </p:cNvSpPr>
          <p:nvPr>
            <p:ph type="pic" idx="23"/>
          </p:nvPr>
        </p:nvSpPr>
        <p:spPr>
          <a:xfrm>
            <a:off x="13366644" y="5337459"/>
            <a:ext cx="22193674" cy="29591565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Quattro televisori vintage in rosa, blu, arancione e verde fluo"/>
          <p:cNvSpPr>
            <a:spLocks noGrp="1"/>
          </p:cNvSpPr>
          <p:nvPr>
            <p:ph type="pic" sz="half" idx="21"/>
          </p:nvPr>
        </p:nvSpPr>
        <p:spPr>
          <a:xfrm>
            <a:off x="943536" y="13234497"/>
            <a:ext cx="28377103" cy="15969460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2585058" y="18972066"/>
            <a:ext cx="25078222" cy="48548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>
            <a:normAutofit/>
          </a:bodyPr>
          <a:lstStyle/>
          <a:p>
            <a:r>
              <a:t>Titolo presentazione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2585058" y="17226364"/>
            <a:ext cx="25078222" cy="200389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b">
            <a:normAutofit/>
          </a:bodyPr>
          <a:lstStyle/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2296" y="28193294"/>
            <a:ext cx="1071489" cy="1273165"/>
          </a:xfrm>
          <a:prstGeom prst="rect">
            <a:avLst/>
          </a:prstGeom>
          <a:ln w="3175">
            <a:miter lim="400000"/>
          </a:ln>
        </p:spPr>
        <p:txBody>
          <a:bodyPr wrap="none" lIns="63050" tIns="63050" rIns="63050" bIns="63050" anchor="b">
            <a:spAutoFit/>
          </a:bodyPr>
          <a:lstStyle>
            <a:lvl1pPr defTabSz="1822920">
              <a:defRPr spc="0">
                <a:solidFill>
                  <a:srgbClr val="FFFFFF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9pPr>
    </p:titleStyle>
    <p:bodyStyle>
      <a:lvl1pPr marL="0" marR="0" indent="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9pPr>
    </p:bodyStyle>
    <p:otherStyle>
      <a:lvl1pPr marL="0" marR="0" indent="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Evolving Hybrid Quantum-Classical GRU Architecture for Multivariate Time Series"/>
          <p:cNvSpPr txBox="1">
            <a:spLocks noGrp="1"/>
          </p:cNvSpPr>
          <p:nvPr>
            <p:ph type="ctrTitle"/>
          </p:nvPr>
        </p:nvSpPr>
        <p:spPr>
          <a:xfrm>
            <a:off x="0" y="3099637"/>
            <a:ext cx="30347399" cy="3243733"/>
          </a:xfrm>
          <a:prstGeom prst="rect">
            <a:avLst/>
          </a:prstGeom>
        </p:spPr>
        <p:txBody>
          <a:bodyPr/>
          <a:lstStyle>
            <a:lvl1pPr defTabSz="1585940">
              <a:lnSpc>
                <a:spcPct val="80000"/>
              </a:lnSpc>
              <a:defRPr sz="9222" cap="none" spc="276">
                <a:solidFill>
                  <a:srgbClr val="B12649"/>
                </a:solidFill>
              </a:defRPr>
            </a:lvl1pPr>
          </a:lstStyle>
          <a:p>
            <a:r>
              <a:rPr lang="en-US" noProof="0" dirty="0"/>
              <a:t>Is QAOA the Ultimate Solution </a:t>
            </a:r>
            <a:br>
              <a:rPr lang="en-US" noProof="0" dirty="0"/>
            </a:br>
            <a:r>
              <a:rPr lang="en-US" noProof="0" dirty="0"/>
              <a:t>for the </a:t>
            </a:r>
            <a:r>
              <a:rPr lang="en-US" noProof="0" dirty="0" err="1"/>
              <a:t>MaxCut</a:t>
            </a:r>
            <a:r>
              <a:rPr lang="en-US" noProof="0" dirty="0"/>
              <a:t> problem?</a:t>
            </a:r>
          </a:p>
        </p:txBody>
      </p:sp>
      <p:sp>
        <p:nvSpPr>
          <p:cNvPr id="179" name="Francesco Scala1, Andrea Ceschini2, Massimo Panella2, Dario Gerace1…"/>
          <p:cNvSpPr txBox="1">
            <a:spLocks noGrp="1"/>
          </p:cNvSpPr>
          <p:nvPr>
            <p:ph type="subTitle" sz="quarter" idx="1"/>
          </p:nvPr>
        </p:nvSpPr>
        <p:spPr>
          <a:xfrm>
            <a:off x="1454845" y="5317444"/>
            <a:ext cx="27269217" cy="2364384"/>
          </a:xfrm>
          <a:prstGeom prst="rect">
            <a:avLst/>
          </a:prstGeom>
        </p:spPr>
        <p:txBody>
          <a:bodyPr anchor="ctr"/>
          <a:lstStyle/>
          <a:p>
            <a:pPr defTabSz="2498589">
              <a:lnSpc>
                <a:spcPct val="100000"/>
              </a:lnSpc>
              <a:defRPr sz="3880" spc="0">
                <a:solidFill>
                  <a:schemeClr val="accent1">
                    <a:satOff val="74278"/>
                    <a:lumOff val="-33241"/>
                  </a:schemeClr>
                </a:solidFill>
              </a:defRPr>
            </a:pPr>
            <a:r>
              <a:rPr lang="en-US" b="0" noProof="0" dirty="0">
                <a:solidFill>
                  <a:srgbClr val="000000"/>
                </a:solidFill>
              </a:rPr>
              <a:t>Leonardo Lavagna</a:t>
            </a:r>
            <a:r>
              <a:rPr lang="en-US" b="0" baseline="30000" noProof="0" dirty="0">
                <a:solidFill>
                  <a:srgbClr val="000000"/>
                </a:solidFill>
              </a:rPr>
              <a:t>1</a:t>
            </a:r>
            <a:r>
              <a:rPr lang="en-US" b="0" noProof="0" dirty="0">
                <a:solidFill>
                  <a:srgbClr val="000000"/>
                </a:solidFill>
              </a:rPr>
              <a:t>,  </a:t>
            </a:r>
            <a:r>
              <a:rPr lang="en-US" noProof="0" dirty="0">
                <a:solidFill>
                  <a:srgbClr val="000000"/>
                </a:solidFill>
              </a:rPr>
              <a:t>Francesca De Falco</a:t>
            </a:r>
            <a:r>
              <a:rPr lang="en-US" baseline="30000" noProof="0" dirty="0">
                <a:solidFill>
                  <a:srgbClr val="000000"/>
                </a:solidFill>
              </a:rPr>
              <a:t>1</a:t>
            </a:r>
            <a:r>
              <a:rPr lang="en-US" b="0" noProof="0" dirty="0">
                <a:solidFill>
                  <a:srgbClr val="000000"/>
                </a:solidFill>
                <a:ea typeface="Graphik Medium"/>
                <a:cs typeface="Graphik Medium"/>
                <a:sym typeface="Graphik Medium"/>
              </a:rPr>
              <a:t>,  Massimo Panella</a:t>
            </a:r>
            <a:r>
              <a:rPr lang="en-US" b="0" baseline="30000" noProof="0" dirty="0">
                <a:solidFill>
                  <a:srgbClr val="000000"/>
                </a:solidFill>
              </a:rPr>
              <a:t>1</a:t>
            </a:r>
            <a:endParaRPr lang="en-US" b="0" baseline="31999" noProof="0" dirty="0">
              <a:solidFill>
                <a:srgbClr val="000000"/>
              </a:solidFill>
              <a:latin typeface="Graphik Medium"/>
              <a:ea typeface="Graphik Medium"/>
              <a:cs typeface="Graphik Medium"/>
              <a:sym typeface="Graphik Medium"/>
            </a:endParaRPr>
          </a:p>
          <a:p>
            <a:pPr defTabSz="2498589">
              <a:lnSpc>
                <a:spcPct val="100000"/>
              </a:lnSpc>
              <a:defRPr sz="3880" spc="0">
                <a:solidFill>
                  <a:schemeClr val="accent1">
                    <a:satOff val="74278"/>
                    <a:lumOff val="-33241"/>
                  </a:schemeClr>
                </a:solidFill>
              </a:defRPr>
            </a:pPr>
            <a:r>
              <a:rPr lang="en-US" b="0" noProof="0" dirty="0">
                <a:solidFill>
                  <a:srgbClr val="000000"/>
                </a:solidFill>
              </a:rPr>
              <a:t>1. Dept. of Information Engineering, Electronics and Telecommunications (DIET), University of Rome “La Sapienza”, Italy</a:t>
            </a:r>
          </a:p>
        </p:txBody>
      </p:sp>
      <p:sp>
        <p:nvSpPr>
          <p:cNvPr id="182" name="Rettangolo arrotondato"/>
          <p:cNvSpPr/>
          <p:nvPr/>
        </p:nvSpPr>
        <p:spPr>
          <a:xfrm>
            <a:off x="1319380" y="7895389"/>
            <a:ext cx="27624395" cy="5466772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76200">
            <a:solidFill>
              <a:srgbClr val="B126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/>
          </a:p>
        </p:txBody>
      </p:sp>
      <p:sp>
        <p:nvSpPr>
          <p:cNvPr id="186" name="OVERVIEW"/>
          <p:cNvSpPr txBox="1"/>
          <p:nvPr/>
        </p:nvSpPr>
        <p:spPr>
          <a:xfrm rot="16200000">
            <a:off x="-955916" y="10209023"/>
            <a:ext cx="3277345" cy="882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OVERVIEW</a:t>
            </a:r>
          </a:p>
        </p:txBody>
      </p:sp>
      <p:sp>
        <p:nvSpPr>
          <p:cNvPr id="187" name="OVERFITTING and DROPOUT"/>
          <p:cNvSpPr txBox="1"/>
          <p:nvPr/>
        </p:nvSpPr>
        <p:spPr>
          <a:xfrm rot="16200000">
            <a:off x="-3772327" y="18217852"/>
            <a:ext cx="8910167" cy="8198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ARCHITECTURE</a:t>
            </a:r>
          </a:p>
        </p:txBody>
      </p:sp>
      <p:sp>
        <p:nvSpPr>
          <p:cNvPr id="188" name="RESULTS"/>
          <p:cNvSpPr txBox="1"/>
          <p:nvPr/>
        </p:nvSpPr>
        <p:spPr>
          <a:xfrm rot="16200000">
            <a:off x="-2786580" y="31339617"/>
            <a:ext cx="6938673" cy="882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RESULTS</a:t>
            </a:r>
          </a:p>
        </p:txBody>
      </p:sp>
      <p:sp>
        <p:nvSpPr>
          <p:cNvPr id="191" name="Framework…"/>
          <p:cNvSpPr txBox="1"/>
          <p:nvPr/>
        </p:nvSpPr>
        <p:spPr>
          <a:xfrm>
            <a:off x="3433600" y="8246191"/>
            <a:ext cx="11294438" cy="252798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Framework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 QAOA [1]  is a prominent variational algorithm designed to tackle combinatorial optimization problems. 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 Since its practical performance on NISQ devices is often limited by circuit depth and complex parameter landscapes, several variants have been introduced [2]. </a:t>
            </a:r>
          </a:p>
        </p:txBody>
      </p:sp>
      <p:sp>
        <p:nvSpPr>
          <p:cNvPr id="192" name="Cerchio"/>
          <p:cNvSpPr/>
          <p:nvPr/>
        </p:nvSpPr>
        <p:spPr>
          <a:xfrm>
            <a:off x="1791554" y="8618983"/>
            <a:ext cx="1524001" cy="1524001"/>
          </a:xfrm>
          <a:prstGeom prst="ellipse">
            <a:avLst/>
          </a:prstGeom>
          <a:solidFill>
            <a:schemeClr val="accent4">
              <a:hueOff val="265598"/>
              <a:satOff val="58489"/>
              <a:lumOff val="29694"/>
            </a:schemeClr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193" name="Technique…"/>
          <p:cNvSpPr txBox="1"/>
          <p:nvPr/>
        </p:nvSpPr>
        <p:spPr>
          <a:xfrm>
            <a:off x="3434400" y="10961229"/>
            <a:ext cx="11295971" cy="132766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Technique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The QANS is a quantum neural networks proposed for solving the </a:t>
            </a:r>
            <a:r>
              <a:rPr lang="en-US" sz="2600" noProof="0" dirty="0" err="1">
                <a:solidFill>
                  <a:srgbClr val="000000"/>
                </a:solidFill>
              </a:rPr>
              <a:t>MaxCut</a:t>
            </a:r>
            <a:r>
              <a:rPr lang="en-US" sz="2600" noProof="0" dirty="0">
                <a:solidFill>
                  <a:srgbClr val="000000"/>
                </a:solidFill>
              </a:rPr>
              <a:t> problem and represents an alternative approach to QAOA.</a:t>
            </a:r>
          </a:p>
        </p:txBody>
      </p:sp>
      <p:grpSp>
        <p:nvGrpSpPr>
          <p:cNvPr id="198" name="Raggruppa"/>
          <p:cNvGrpSpPr/>
          <p:nvPr/>
        </p:nvGrpSpPr>
        <p:grpSpPr>
          <a:xfrm>
            <a:off x="1770639" y="11163483"/>
            <a:ext cx="1524001" cy="1524001"/>
            <a:chOff x="0" y="0"/>
            <a:chExt cx="1524000" cy="1524000"/>
          </a:xfrm>
        </p:grpSpPr>
        <p:sp>
          <p:nvSpPr>
            <p:cNvPr id="194" name="Cerchio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solidFill>
              <a:schemeClr val="accent4">
                <a:hueOff val="265598"/>
                <a:satOff val="58489"/>
                <a:lumOff val="29694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grpSp>
          <p:nvGrpSpPr>
            <p:cNvPr id="197" name="Raggruppa"/>
            <p:cNvGrpSpPr/>
            <p:nvPr/>
          </p:nvGrpSpPr>
          <p:grpSpPr>
            <a:xfrm>
              <a:off x="254917" y="254916"/>
              <a:ext cx="1014166" cy="1014167"/>
              <a:chOff x="0" y="0"/>
              <a:chExt cx="1014165" cy="1014165"/>
            </a:xfrm>
          </p:grpSpPr>
          <p:sp>
            <p:nvSpPr>
              <p:cNvPr id="195" name="Cacciavite"/>
              <p:cNvSpPr/>
              <p:nvPr/>
            </p:nvSpPr>
            <p:spPr>
              <a:xfrm rot="8100000">
                <a:off x="429744" y="-19475"/>
                <a:ext cx="154678" cy="1053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5748" y="0"/>
                      <a:pt x="1596" y="552"/>
                      <a:pt x="1114" y="1257"/>
                    </a:cubicBezTo>
                    <a:cubicBezTo>
                      <a:pt x="1059" y="1339"/>
                      <a:pt x="1285" y="1418"/>
                      <a:pt x="1735" y="1466"/>
                    </a:cubicBezTo>
                    <a:lnTo>
                      <a:pt x="3746" y="1682"/>
                    </a:lnTo>
                    <a:lnTo>
                      <a:pt x="1126" y="1882"/>
                    </a:lnTo>
                    <a:cubicBezTo>
                      <a:pt x="431" y="1935"/>
                      <a:pt x="0" y="2040"/>
                      <a:pt x="0" y="2155"/>
                    </a:cubicBezTo>
                    <a:lnTo>
                      <a:pt x="0" y="7347"/>
                    </a:lnTo>
                    <a:cubicBezTo>
                      <a:pt x="0" y="7449"/>
                      <a:pt x="266" y="7545"/>
                      <a:pt x="712" y="7622"/>
                    </a:cubicBezTo>
                    <a:cubicBezTo>
                      <a:pt x="2518" y="7936"/>
                      <a:pt x="3608" y="8342"/>
                      <a:pt x="3608" y="8785"/>
                    </a:cubicBezTo>
                    <a:cubicBezTo>
                      <a:pt x="3608" y="9228"/>
                      <a:pt x="2518" y="9633"/>
                      <a:pt x="712" y="9946"/>
                    </a:cubicBezTo>
                    <a:cubicBezTo>
                      <a:pt x="266" y="10024"/>
                      <a:pt x="0" y="10121"/>
                      <a:pt x="0" y="10223"/>
                    </a:cubicBezTo>
                    <a:lnTo>
                      <a:pt x="0" y="10707"/>
                    </a:lnTo>
                    <a:cubicBezTo>
                      <a:pt x="0" y="10810"/>
                      <a:pt x="563" y="10894"/>
                      <a:pt x="1264" y="10894"/>
                    </a:cubicBezTo>
                    <a:lnTo>
                      <a:pt x="8054" y="10894"/>
                    </a:lnTo>
                    <a:lnTo>
                      <a:pt x="8100" y="10894"/>
                    </a:lnTo>
                    <a:lnTo>
                      <a:pt x="8100" y="17967"/>
                    </a:lnTo>
                    <a:lnTo>
                      <a:pt x="5997" y="19664"/>
                    </a:lnTo>
                    <a:lnTo>
                      <a:pt x="8399" y="21600"/>
                    </a:lnTo>
                    <a:lnTo>
                      <a:pt x="13201" y="21600"/>
                    </a:lnTo>
                    <a:lnTo>
                      <a:pt x="15591" y="19664"/>
                    </a:lnTo>
                    <a:lnTo>
                      <a:pt x="13489" y="17967"/>
                    </a:lnTo>
                    <a:lnTo>
                      <a:pt x="13489" y="10894"/>
                    </a:lnTo>
                    <a:lnTo>
                      <a:pt x="13546" y="10894"/>
                    </a:lnTo>
                    <a:lnTo>
                      <a:pt x="20325" y="10894"/>
                    </a:lnTo>
                    <a:cubicBezTo>
                      <a:pt x="21025" y="10894"/>
                      <a:pt x="21600" y="10810"/>
                      <a:pt x="21600" y="10707"/>
                    </a:cubicBezTo>
                    <a:lnTo>
                      <a:pt x="21600" y="10223"/>
                    </a:lnTo>
                    <a:cubicBezTo>
                      <a:pt x="21600" y="10121"/>
                      <a:pt x="21334" y="10024"/>
                      <a:pt x="20888" y="9946"/>
                    </a:cubicBezTo>
                    <a:cubicBezTo>
                      <a:pt x="19082" y="9633"/>
                      <a:pt x="17992" y="9228"/>
                      <a:pt x="17992" y="8785"/>
                    </a:cubicBezTo>
                    <a:cubicBezTo>
                      <a:pt x="17992" y="8342"/>
                      <a:pt x="19082" y="7936"/>
                      <a:pt x="20888" y="7622"/>
                    </a:cubicBezTo>
                    <a:cubicBezTo>
                      <a:pt x="21333" y="7545"/>
                      <a:pt x="21600" y="7449"/>
                      <a:pt x="21600" y="7347"/>
                    </a:cubicBezTo>
                    <a:lnTo>
                      <a:pt x="21600" y="2155"/>
                    </a:lnTo>
                    <a:cubicBezTo>
                      <a:pt x="21600" y="2040"/>
                      <a:pt x="21157" y="1935"/>
                      <a:pt x="20463" y="1882"/>
                    </a:cubicBezTo>
                    <a:lnTo>
                      <a:pt x="17843" y="1682"/>
                    </a:lnTo>
                    <a:lnTo>
                      <a:pt x="19854" y="1466"/>
                    </a:lnTo>
                    <a:cubicBezTo>
                      <a:pt x="20303" y="1418"/>
                      <a:pt x="20541" y="1339"/>
                      <a:pt x="20486" y="1257"/>
                    </a:cubicBezTo>
                    <a:cubicBezTo>
                      <a:pt x="20004" y="552"/>
                      <a:pt x="15852" y="0"/>
                      <a:pt x="108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  <p:sp>
            <p:nvSpPr>
              <p:cNvPr id="196" name="Chiave inglese"/>
              <p:cNvSpPr/>
              <p:nvPr/>
            </p:nvSpPr>
            <p:spPr>
              <a:xfrm rot="2700000">
                <a:off x="347541" y="-50499"/>
                <a:ext cx="319084" cy="11151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1" h="21089" extrusionOk="0">
                    <a:moveTo>
                      <a:pt x="10495" y="1"/>
                    </a:moveTo>
                    <a:cubicBezTo>
                      <a:pt x="5537" y="237"/>
                      <a:pt x="2663" y="1178"/>
                      <a:pt x="1749" y="2267"/>
                    </a:cubicBezTo>
                    <a:cubicBezTo>
                      <a:pt x="1263" y="2301"/>
                      <a:pt x="679" y="2339"/>
                      <a:pt x="433" y="2354"/>
                    </a:cubicBezTo>
                    <a:cubicBezTo>
                      <a:pt x="-23" y="2381"/>
                      <a:pt x="-170" y="2869"/>
                      <a:pt x="241" y="2922"/>
                    </a:cubicBezTo>
                    <a:cubicBezTo>
                      <a:pt x="457" y="2950"/>
                      <a:pt x="979" y="3018"/>
                      <a:pt x="1429" y="3077"/>
                    </a:cubicBezTo>
                    <a:cubicBezTo>
                      <a:pt x="1447" y="3792"/>
                      <a:pt x="2245" y="4513"/>
                      <a:pt x="3787" y="5096"/>
                    </a:cubicBezTo>
                    <a:cubicBezTo>
                      <a:pt x="6520" y="6130"/>
                      <a:pt x="7537" y="7410"/>
                      <a:pt x="7537" y="8611"/>
                    </a:cubicBezTo>
                    <a:cubicBezTo>
                      <a:pt x="7537" y="9390"/>
                      <a:pt x="5738" y="18573"/>
                      <a:pt x="5738" y="19703"/>
                    </a:cubicBezTo>
                    <a:cubicBezTo>
                      <a:pt x="5738" y="21590"/>
                      <a:pt x="15503" y="21512"/>
                      <a:pt x="15503" y="19703"/>
                    </a:cubicBezTo>
                    <a:cubicBezTo>
                      <a:pt x="15503" y="18645"/>
                      <a:pt x="14559" y="11348"/>
                      <a:pt x="14559" y="8655"/>
                    </a:cubicBezTo>
                    <a:cubicBezTo>
                      <a:pt x="14559" y="6354"/>
                      <a:pt x="19684" y="4736"/>
                      <a:pt x="21238" y="4314"/>
                    </a:cubicBezTo>
                    <a:cubicBezTo>
                      <a:pt x="21430" y="4262"/>
                      <a:pt x="21367" y="4172"/>
                      <a:pt x="21122" y="4143"/>
                    </a:cubicBezTo>
                    <a:lnTo>
                      <a:pt x="8981" y="2738"/>
                    </a:lnTo>
                    <a:lnTo>
                      <a:pt x="7956" y="2069"/>
                    </a:lnTo>
                    <a:cubicBezTo>
                      <a:pt x="7956" y="2069"/>
                      <a:pt x="9739" y="792"/>
                      <a:pt x="10809" y="114"/>
                    </a:cubicBezTo>
                    <a:cubicBezTo>
                      <a:pt x="10903" y="55"/>
                      <a:pt x="10723" y="-10"/>
                      <a:pt x="10495" y="1"/>
                    </a:cubicBezTo>
                    <a:close/>
                    <a:moveTo>
                      <a:pt x="15555" y="549"/>
                    </a:moveTo>
                    <a:cubicBezTo>
                      <a:pt x="15455" y="559"/>
                      <a:pt x="15369" y="582"/>
                      <a:pt x="15322" y="611"/>
                    </a:cubicBezTo>
                    <a:cubicBezTo>
                      <a:pt x="14260" y="1278"/>
                      <a:pt x="12673" y="2415"/>
                      <a:pt x="12673" y="2415"/>
                    </a:cubicBezTo>
                    <a:lnTo>
                      <a:pt x="13511" y="3001"/>
                    </a:lnTo>
                    <a:lnTo>
                      <a:pt x="17977" y="3519"/>
                    </a:lnTo>
                    <a:cubicBezTo>
                      <a:pt x="18982" y="1431"/>
                      <a:pt x="16932" y="699"/>
                      <a:pt x="15869" y="554"/>
                    </a:cubicBezTo>
                    <a:cubicBezTo>
                      <a:pt x="15765" y="540"/>
                      <a:pt x="15655" y="539"/>
                      <a:pt x="15555" y="549"/>
                    </a:cubicBezTo>
                    <a:close/>
                    <a:moveTo>
                      <a:pt x="8899" y="4831"/>
                    </a:moveTo>
                    <a:cubicBezTo>
                      <a:pt x="8932" y="4832"/>
                      <a:pt x="8962" y="4838"/>
                      <a:pt x="8969" y="4849"/>
                    </a:cubicBezTo>
                    <a:lnTo>
                      <a:pt x="9190" y="5208"/>
                    </a:lnTo>
                    <a:cubicBezTo>
                      <a:pt x="9224" y="5263"/>
                      <a:pt x="9450" y="5291"/>
                      <a:pt x="9610" y="5257"/>
                    </a:cubicBezTo>
                    <a:lnTo>
                      <a:pt x="10553" y="5058"/>
                    </a:lnTo>
                    <a:cubicBezTo>
                      <a:pt x="10713" y="5025"/>
                      <a:pt x="10944" y="5050"/>
                      <a:pt x="10978" y="5106"/>
                    </a:cubicBezTo>
                    <a:lnTo>
                      <a:pt x="11176" y="5433"/>
                    </a:lnTo>
                    <a:cubicBezTo>
                      <a:pt x="11210" y="5489"/>
                      <a:pt x="11442" y="5514"/>
                      <a:pt x="11601" y="5481"/>
                    </a:cubicBezTo>
                    <a:lnTo>
                      <a:pt x="12544" y="5283"/>
                    </a:lnTo>
                    <a:cubicBezTo>
                      <a:pt x="12704" y="5250"/>
                      <a:pt x="12930" y="5276"/>
                      <a:pt x="12964" y="5331"/>
                    </a:cubicBezTo>
                    <a:lnTo>
                      <a:pt x="13168" y="5659"/>
                    </a:lnTo>
                    <a:cubicBezTo>
                      <a:pt x="13201" y="5714"/>
                      <a:pt x="13427" y="5740"/>
                      <a:pt x="13587" y="5706"/>
                    </a:cubicBezTo>
                    <a:lnTo>
                      <a:pt x="14623" y="5489"/>
                    </a:lnTo>
                    <a:cubicBezTo>
                      <a:pt x="14688" y="5476"/>
                      <a:pt x="14776" y="5494"/>
                      <a:pt x="14746" y="5516"/>
                    </a:cubicBezTo>
                    <a:lnTo>
                      <a:pt x="14134" y="5948"/>
                    </a:lnTo>
                    <a:cubicBezTo>
                      <a:pt x="14053" y="6006"/>
                      <a:pt x="13820" y="6034"/>
                      <a:pt x="13616" y="6011"/>
                    </a:cubicBezTo>
                    <a:lnTo>
                      <a:pt x="8422" y="5423"/>
                    </a:lnTo>
                    <a:cubicBezTo>
                      <a:pt x="8218" y="5400"/>
                      <a:pt x="8119" y="5335"/>
                      <a:pt x="8201" y="5277"/>
                    </a:cubicBezTo>
                    <a:lnTo>
                      <a:pt x="8818" y="4844"/>
                    </a:lnTo>
                    <a:cubicBezTo>
                      <a:pt x="8833" y="4833"/>
                      <a:pt x="8866" y="4830"/>
                      <a:pt x="8899" y="4831"/>
                    </a:cubicBezTo>
                    <a:close/>
                    <a:moveTo>
                      <a:pt x="10576" y="18867"/>
                    </a:moveTo>
                    <a:cubicBezTo>
                      <a:pt x="12209" y="18867"/>
                      <a:pt x="13529" y="19241"/>
                      <a:pt x="13529" y="19703"/>
                    </a:cubicBezTo>
                    <a:cubicBezTo>
                      <a:pt x="13529" y="20164"/>
                      <a:pt x="12209" y="20539"/>
                      <a:pt x="10576" y="20539"/>
                    </a:cubicBezTo>
                    <a:cubicBezTo>
                      <a:pt x="8944" y="20539"/>
                      <a:pt x="7618" y="20164"/>
                      <a:pt x="7618" y="19703"/>
                    </a:cubicBezTo>
                    <a:cubicBezTo>
                      <a:pt x="7618" y="19241"/>
                      <a:pt x="8944" y="18867"/>
                      <a:pt x="10576" y="1886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</p:grpSp>
      </p:grpSp>
      <p:sp>
        <p:nvSpPr>
          <p:cNvPr id="199" name="Analysis…"/>
          <p:cNvSpPr txBox="1"/>
          <p:nvPr/>
        </p:nvSpPr>
        <p:spPr>
          <a:xfrm>
            <a:off x="17271845" y="8247600"/>
            <a:ext cx="11294438" cy="21278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Analysis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Analysis of the </a:t>
            </a:r>
            <a:r>
              <a:rPr lang="en-US" sz="2600" noProof="0" dirty="0" err="1">
                <a:solidFill>
                  <a:srgbClr val="000000"/>
                </a:solidFill>
              </a:rPr>
              <a:t>MaxCut</a:t>
            </a:r>
            <a:r>
              <a:rPr lang="en-US" sz="2600" noProof="0" dirty="0">
                <a:solidFill>
                  <a:srgbClr val="000000"/>
                </a:solidFill>
              </a:rPr>
              <a:t> problem using four different types of graphs, considering the approximation ratio as the metric.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Comparison with vanilla QAOA and multiangle QAOA with varying numbers of layers p.</a:t>
            </a:r>
          </a:p>
        </p:txBody>
      </p:sp>
      <p:sp>
        <p:nvSpPr>
          <p:cNvPr id="200" name="Cerchio"/>
          <p:cNvSpPr/>
          <p:nvPr/>
        </p:nvSpPr>
        <p:spPr>
          <a:xfrm>
            <a:off x="15514276" y="8619080"/>
            <a:ext cx="1524001" cy="1524001"/>
          </a:xfrm>
          <a:prstGeom prst="ellipse">
            <a:avLst/>
          </a:prstGeom>
          <a:solidFill>
            <a:schemeClr val="accent4">
              <a:hueOff val="265598"/>
              <a:satOff val="58489"/>
              <a:lumOff val="29694"/>
            </a:schemeClr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grpSp>
        <p:nvGrpSpPr>
          <p:cNvPr id="205" name="Raggruppa"/>
          <p:cNvGrpSpPr/>
          <p:nvPr/>
        </p:nvGrpSpPr>
        <p:grpSpPr>
          <a:xfrm>
            <a:off x="2001104" y="8831853"/>
            <a:ext cx="1104901" cy="1098262"/>
            <a:chOff x="0" y="0"/>
            <a:chExt cx="1104899" cy="1098260"/>
          </a:xfrm>
        </p:grpSpPr>
        <p:sp>
          <p:nvSpPr>
            <p:cNvPr id="201" name="Ingranaggio"/>
            <p:cNvSpPr/>
            <p:nvPr/>
          </p:nvSpPr>
          <p:spPr>
            <a:xfrm rot="1324828">
              <a:off x="92665" y="93266"/>
              <a:ext cx="615856" cy="613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2" name="Ingranaggio"/>
            <p:cNvSpPr/>
            <p:nvPr/>
          </p:nvSpPr>
          <p:spPr>
            <a:xfrm rot="20224828">
              <a:off x="687175" y="148371"/>
              <a:ext cx="361855" cy="360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3" name="Ingranaggio"/>
            <p:cNvSpPr/>
            <p:nvPr/>
          </p:nvSpPr>
          <p:spPr>
            <a:xfrm rot="20944828">
              <a:off x="567878" y="494983"/>
              <a:ext cx="463046" cy="461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4" name="Ingranaggio"/>
            <p:cNvSpPr/>
            <p:nvPr/>
          </p:nvSpPr>
          <p:spPr>
            <a:xfrm rot="424828">
              <a:off x="247143" y="717049"/>
              <a:ext cx="361855" cy="360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</p:grpSp>
      <p:sp>
        <p:nvSpPr>
          <p:cNvPr id="209" name="Novelties and findings…"/>
          <p:cNvSpPr txBox="1"/>
          <p:nvPr/>
        </p:nvSpPr>
        <p:spPr>
          <a:xfrm>
            <a:off x="17272800" y="10962000"/>
            <a:ext cx="11294438" cy="21278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Novelties and findings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QANS outperforms both vanilla QAOA and multiangle QAOA in terms of approximation ratio.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QANS achieves excellent results even with a very low gate count, making it particularly suitable for NISQ devices.</a:t>
            </a:r>
          </a:p>
        </p:txBody>
      </p:sp>
      <p:grpSp>
        <p:nvGrpSpPr>
          <p:cNvPr id="214" name="Raggruppa"/>
          <p:cNvGrpSpPr/>
          <p:nvPr/>
        </p:nvGrpSpPr>
        <p:grpSpPr>
          <a:xfrm>
            <a:off x="15519400" y="11163483"/>
            <a:ext cx="1524000" cy="1524001"/>
            <a:chOff x="0" y="0"/>
            <a:chExt cx="1524000" cy="1524000"/>
          </a:xfrm>
        </p:grpSpPr>
        <p:sp>
          <p:nvSpPr>
            <p:cNvPr id="210" name="Cerchio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solidFill>
              <a:schemeClr val="accent4">
                <a:hueOff val="265598"/>
                <a:satOff val="58489"/>
                <a:lumOff val="29694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grpSp>
          <p:nvGrpSpPr>
            <p:cNvPr id="213" name="Raggruppa"/>
            <p:cNvGrpSpPr/>
            <p:nvPr/>
          </p:nvGrpSpPr>
          <p:grpSpPr>
            <a:xfrm>
              <a:off x="328572" y="253999"/>
              <a:ext cx="866856" cy="1016001"/>
              <a:chOff x="0" y="0"/>
              <a:chExt cx="866855" cy="1016000"/>
            </a:xfrm>
          </p:grpSpPr>
          <p:sp>
            <p:nvSpPr>
              <p:cNvPr id="211" name="Cerca"/>
              <p:cNvSpPr/>
              <p:nvPr/>
            </p:nvSpPr>
            <p:spPr>
              <a:xfrm>
                <a:off x="0" y="-1"/>
                <a:ext cx="866856" cy="1016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0" h="21502" extrusionOk="0">
                    <a:moveTo>
                      <a:pt x="7928" y="4"/>
                    </a:moveTo>
                    <a:cubicBezTo>
                      <a:pt x="6343" y="54"/>
                      <a:pt x="4758" y="513"/>
                      <a:pt x="3383" y="1414"/>
                    </a:cubicBezTo>
                    <a:cubicBezTo>
                      <a:pt x="-286" y="3816"/>
                      <a:pt x="-1098" y="8454"/>
                      <a:pt x="1573" y="11753"/>
                    </a:cubicBezTo>
                    <a:cubicBezTo>
                      <a:pt x="3866" y="14587"/>
                      <a:pt x="8102" y="15587"/>
                      <a:pt x="11645" y="14130"/>
                    </a:cubicBezTo>
                    <a:lnTo>
                      <a:pt x="11895" y="14028"/>
                    </a:lnTo>
                    <a:lnTo>
                      <a:pt x="12039" y="14238"/>
                    </a:lnTo>
                    <a:cubicBezTo>
                      <a:pt x="12051" y="14256"/>
                      <a:pt x="12060" y="14269"/>
                      <a:pt x="12071" y="14282"/>
                    </a:cubicBezTo>
                    <a:lnTo>
                      <a:pt x="17686" y="21218"/>
                    </a:lnTo>
                    <a:cubicBezTo>
                      <a:pt x="17806" y="21366"/>
                      <a:pt x="17984" y="21464"/>
                      <a:pt x="18188" y="21493"/>
                    </a:cubicBezTo>
                    <a:cubicBezTo>
                      <a:pt x="18392" y="21522"/>
                      <a:pt x="18597" y="21479"/>
                      <a:pt x="18762" y="21371"/>
                    </a:cubicBezTo>
                    <a:lnTo>
                      <a:pt x="20082" y="20505"/>
                    </a:lnTo>
                    <a:cubicBezTo>
                      <a:pt x="20425" y="20281"/>
                      <a:pt x="20502" y="19847"/>
                      <a:pt x="20252" y="19538"/>
                    </a:cubicBezTo>
                    <a:lnTo>
                      <a:pt x="14637" y="12602"/>
                    </a:lnTo>
                    <a:cubicBezTo>
                      <a:pt x="14613" y="12572"/>
                      <a:pt x="14586" y="12546"/>
                      <a:pt x="14559" y="12521"/>
                    </a:cubicBezTo>
                    <a:lnTo>
                      <a:pt x="14359" y="12340"/>
                    </a:lnTo>
                    <a:lnTo>
                      <a:pt x="14540" y="12143"/>
                    </a:lnTo>
                    <a:cubicBezTo>
                      <a:pt x="16964" y="9533"/>
                      <a:pt x="17103" y="5790"/>
                      <a:pt x="14878" y="3042"/>
                    </a:cubicBezTo>
                    <a:cubicBezTo>
                      <a:pt x="13209" y="980"/>
                      <a:pt x="10569" y="-78"/>
                      <a:pt x="7928" y="4"/>
                    </a:cubicBezTo>
                    <a:close/>
                    <a:moveTo>
                      <a:pt x="7952" y="1548"/>
                    </a:moveTo>
                    <a:cubicBezTo>
                      <a:pt x="8377" y="1533"/>
                      <a:pt x="8807" y="1556"/>
                      <a:pt x="9237" y="1617"/>
                    </a:cubicBezTo>
                    <a:cubicBezTo>
                      <a:pt x="10956" y="1861"/>
                      <a:pt x="12466" y="2690"/>
                      <a:pt x="13488" y="3952"/>
                    </a:cubicBezTo>
                    <a:cubicBezTo>
                      <a:pt x="15601" y="6562"/>
                      <a:pt x="14959" y="10231"/>
                      <a:pt x="12058" y="12131"/>
                    </a:cubicBezTo>
                    <a:cubicBezTo>
                      <a:pt x="10904" y="12887"/>
                      <a:pt x="9563" y="13250"/>
                      <a:pt x="8234" y="13250"/>
                    </a:cubicBezTo>
                    <a:cubicBezTo>
                      <a:pt x="6221" y="13250"/>
                      <a:pt x="4235" y="12415"/>
                      <a:pt x="2963" y="10843"/>
                    </a:cubicBezTo>
                    <a:cubicBezTo>
                      <a:pt x="850" y="8233"/>
                      <a:pt x="1491" y="4565"/>
                      <a:pt x="4393" y="2665"/>
                    </a:cubicBezTo>
                    <a:cubicBezTo>
                      <a:pt x="5446" y="1976"/>
                      <a:pt x="6677" y="1593"/>
                      <a:pt x="7952" y="15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  <p:sp>
            <p:nvSpPr>
              <p:cNvPr id="212" name="Atomo"/>
              <p:cNvSpPr/>
              <p:nvPr/>
            </p:nvSpPr>
            <p:spPr>
              <a:xfrm>
                <a:off x="147691" y="126517"/>
                <a:ext cx="399343" cy="4498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48" h="21600" extrusionOk="0">
                    <a:moveTo>
                      <a:pt x="10524" y="0"/>
                    </a:moveTo>
                    <a:cubicBezTo>
                      <a:pt x="9635" y="0"/>
                      <a:pt x="8359" y="577"/>
                      <a:pt x="7326" y="3327"/>
                    </a:cubicBezTo>
                    <a:cubicBezTo>
                      <a:pt x="7137" y="3832"/>
                      <a:pt x="6970" y="4380"/>
                      <a:pt x="6824" y="4961"/>
                    </a:cubicBezTo>
                    <a:cubicBezTo>
                      <a:pt x="6200" y="4785"/>
                      <a:pt x="5595" y="4643"/>
                      <a:pt x="5020" y="4540"/>
                    </a:cubicBezTo>
                    <a:cubicBezTo>
                      <a:pt x="1890" y="3980"/>
                      <a:pt x="703" y="4698"/>
                      <a:pt x="258" y="5400"/>
                    </a:cubicBezTo>
                    <a:cubicBezTo>
                      <a:pt x="-186" y="6101"/>
                      <a:pt x="-276" y="7396"/>
                      <a:pt x="1822" y="9586"/>
                    </a:cubicBezTo>
                    <a:cubicBezTo>
                      <a:pt x="2207" y="9988"/>
                      <a:pt x="2643" y="10394"/>
                      <a:pt x="3123" y="10799"/>
                    </a:cubicBezTo>
                    <a:cubicBezTo>
                      <a:pt x="2644" y="11204"/>
                      <a:pt x="2207" y="11610"/>
                      <a:pt x="1822" y="12013"/>
                    </a:cubicBezTo>
                    <a:cubicBezTo>
                      <a:pt x="-276" y="14202"/>
                      <a:pt x="-186" y="15499"/>
                      <a:pt x="258" y="16200"/>
                    </a:cubicBezTo>
                    <a:cubicBezTo>
                      <a:pt x="591" y="16726"/>
                      <a:pt x="1341" y="17260"/>
                      <a:pt x="3011" y="17260"/>
                    </a:cubicBezTo>
                    <a:cubicBezTo>
                      <a:pt x="3571" y="17260"/>
                      <a:pt x="4234" y="17200"/>
                      <a:pt x="5020" y="17060"/>
                    </a:cubicBezTo>
                    <a:cubicBezTo>
                      <a:pt x="5595" y="16957"/>
                      <a:pt x="6200" y="16815"/>
                      <a:pt x="6824" y="16639"/>
                    </a:cubicBezTo>
                    <a:cubicBezTo>
                      <a:pt x="6970" y="17220"/>
                      <a:pt x="7137" y="17766"/>
                      <a:pt x="7326" y="18271"/>
                    </a:cubicBezTo>
                    <a:cubicBezTo>
                      <a:pt x="8359" y="21022"/>
                      <a:pt x="9635" y="21600"/>
                      <a:pt x="10524" y="21600"/>
                    </a:cubicBezTo>
                    <a:cubicBezTo>
                      <a:pt x="11413" y="21600"/>
                      <a:pt x="12689" y="21022"/>
                      <a:pt x="13722" y="18271"/>
                    </a:cubicBezTo>
                    <a:cubicBezTo>
                      <a:pt x="13911" y="17766"/>
                      <a:pt x="14080" y="17220"/>
                      <a:pt x="14226" y="16639"/>
                    </a:cubicBezTo>
                    <a:cubicBezTo>
                      <a:pt x="14850" y="16815"/>
                      <a:pt x="15453" y="16957"/>
                      <a:pt x="16028" y="17060"/>
                    </a:cubicBezTo>
                    <a:cubicBezTo>
                      <a:pt x="16814" y="17200"/>
                      <a:pt x="17479" y="17260"/>
                      <a:pt x="18038" y="17260"/>
                    </a:cubicBezTo>
                    <a:cubicBezTo>
                      <a:pt x="19709" y="17260"/>
                      <a:pt x="20457" y="16726"/>
                      <a:pt x="20790" y="16200"/>
                    </a:cubicBezTo>
                    <a:cubicBezTo>
                      <a:pt x="21234" y="15499"/>
                      <a:pt x="21324" y="14202"/>
                      <a:pt x="19226" y="12013"/>
                    </a:cubicBezTo>
                    <a:cubicBezTo>
                      <a:pt x="18841" y="11610"/>
                      <a:pt x="18405" y="11204"/>
                      <a:pt x="17925" y="10799"/>
                    </a:cubicBezTo>
                    <a:cubicBezTo>
                      <a:pt x="18404" y="10394"/>
                      <a:pt x="18841" y="9988"/>
                      <a:pt x="19226" y="9586"/>
                    </a:cubicBezTo>
                    <a:cubicBezTo>
                      <a:pt x="21324" y="7396"/>
                      <a:pt x="21234" y="6101"/>
                      <a:pt x="20790" y="5400"/>
                    </a:cubicBezTo>
                    <a:cubicBezTo>
                      <a:pt x="20345" y="4698"/>
                      <a:pt x="19158" y="3980"/>
                      <a:pt x="16028" y="4540"/>
                    </a:cubicBezTo>
                    <a:cubicBezTo>
                      <a:pt x="15453" y="4643"/>
                      <a:pt x="14850" y="4785"/>
                      <a:pt x="14226" y="4961"/>
                    </a:cubicBezTo>
                    <a:cubicBezTo>
                      <a:pt x="14080" y="4380"/>
                      <a:pt x="13911" y="3832"/>
                      <a:pt x="13722" y="3327"/>
                    </a:cubicBezTo>
                    <a:cubicBezTo>
                      <a:pt x="12689" y="577"/>
                      <a:pt x="11413" y="0"/>
                      <a:pt x="10524" y="0"/>
                    </a:cubicBezTo>
                    <a:close/>
                    <a:moveTo>
                      <a:pt x="10524" y="856"/>
                    </a:moveTo>
                    <a:cubicBezTo>
                      <a:pt x="11556" y="856"/>
                      <a:pt x="12661" y="2513"/>
                      <a:pt x="13329" y="5231"/>
                    </a:cubicBezTo>
                    <a:cubicBezTo>
                      <a:pt x="12420" y="5525"/>
                      <a:pt x="11478" y="5885"/>
                      <a:pt x="10524" y="6304"/>
                    </a:cubicBezTo>
                    <a:cubicBezTo>
                      <a:pt x="9571" y="5885"/>
                      <a:pt x="8628" y="5525"/>
                      <a:pt x="7719" y="5231"/>
                    </a:cubicBezTo>
                    <a:cubicBezTo>
                      <a:pt x="8386" y="2513"/>
                      <a:pt x="9492" y="856"/>
                      <a:pt x="10524" y="856"/>
                    </a:cubicBezTo>
                    <a:close/>
                    <a:moveTo>
                      <a:pt x="3015" y="5197"/>
                    </a:moveTo>
                    <a:cubicBezTo>
                      <a:pt x="3968" y="5197"/>
                      <a:pt x="5206" y="5394"/>
                      <a:pt x="6633" y="5801"/>
                    </a:cubicBezTo>
                    <a:cubicBezTo>
                      <a:pt x="6458" y="6665"/>
                      <a:pt x="6330" y="7591"/>
                      <a:pt x="6252" y="8553"/>
                    </a:cubicBezTo>
                    <a:cubicBezTo>
                      <a:pt x="5377" y="9095"/>
                      <a:pt x="4562" y="9658"/>
                      <a:pt x="3828" y="10229"/>
                    </a:cubicBezTo>
                    <a:cubicBezTo>
                      <a:pt x="3348" y="9826"/>
                      <a:pt x="2912" y="9422"/>
                      <a:pt x="2530" y="9023"/>
                    </a:cubicBezTo>
                    <a:cubicBezTo>
                      <a:pt x="1217" y="7653"/>
                      <a:pt x="672" y="6459"/>
                      <a:pt x="1072" y="5828"/>
                    </a:cubicBezTo>
                    <a:cubicBezTo>
                      <a:pt x="1335" y="5413"/>
                      <a:pt x="2020" y="5197"/>
                      <a:pt x="3015" y="5197"/>
                    </a:cubicBezTo>
                    <a:close/>
                    <a:moveTo>
                      <a:pt x="18035" y="5197"/>
                    </a:moveTo>
                    <a:cubicBezTo>
                      <a:pt x="19030" y="5197"/>
                      <a:pt x="19713" y="5413"/>
                      <a:pt x="19976" y="5828"/>
                    </a:cubicBezTo>
                    <a:cubicBezTo>
                      <a:pt x="20376" y="6459"/>
                      <a:pt x="19831" y="7653"/>
                      <a:pt x="18518" y="9023"/>
                    </a:cubicBezTo>
                    <a:cubicBezTo>
                      <a:pt x="18136" y="9422"/>
                      <a:pt x="17702" y="9826"/>
                      <a:pt x="17221" y="10229"/>
                    </a:cubicBezTo>
                    <a:cubicBezTo>
                      <a:pt x="16488" y="9658"/>
                      <a:pt x="15673" y="9095"/>
                      <a:pt x="14798" y="8553"/>
                    </a:cubicBezTo>
                    <a:cubicBezTo>
                      <a:pt x="14720" y="7591"/>
                      <a:pt x="14590" y="6665"/>
                      <a:pt x="14415" y="5801"/>
                    </a:cubicBezTo>
                    <a:cubicBezTo>
                      <a:pt x="15842" y="5394"/>
                      <a:pt x="17082" y="5197"/>
                      <a:pt x="18035" y="5197"/>
                    </a:cubicBezTo>
                    <a:close/>
                    <a:moveTo>
                      <a:pt x="7532" y="6078"/>
                    </a:moveTo>
                    <a:cubicBezTo>
                      <a:pt x="8148" y="6281"/>
                      <a:pt x="8794" y="6520"/>
                      <a:pt x="9461" y="6795"/>
                    </a:cubicBezTo>
                    <a:cubicBezTo>
                      <a:pt x="9088" y="6975"/>
                      <a:pt x="8715" y="7162"/>
                      <a:pt x="8343" y="7358"/>
                    </a:cubicBezTo>
                    <a:cubicBezTo>
                      <a:pt x="7971" y="7553"/>
                      <a:pt x="7605" y="7754"/>
                      <a:pt x="7248" y="7958"/>
                    </a:cubicBezTo>
                    <a:cubicBezTo>
                      <a:pt x="7320" y="7295"/>
                      <a:pt x="7416" y="6666"/>
                      <a:pt x="7532" y="6078"/>
                    </a:cubicBezTo>
                    <a:close/>
                    <a:moveTo>
                      <a:pt x="13516" y="6078"/>
                    </a:moveTo>
                    <a:cubicBezTo>
                      <a:pt x="13632" y="6666"/>
                      <a:pt x="13728" y="7295"/>
                      <a:pt x="13800" y="7958"/>
                    </a:cubicBezTo>
                    <a:cubicBezTo>
                      <a:pt x="13443" y="7754"/>
                      <a:pt x="13078" y="7553"/>
                      <a:pt x="12706" y="7358"/>
                    </a:cubicBezTo>
                    <a:cubicBezTo>
                      <a:pt x="12335" y="7162"/>
                      <a:pt x="11962" y="6975"/>
                      <a:pt x="11589" y="6795"/>
                    </a:cubicBezTo>
                    <a:cubicBezTo>
                      <a:pt x="12256" y="6520"/>
                      <a:pt x="12900" y="6281"/>
                      <a:pt x="13516" y="6078"/>
                    </a:cubicBezTo>
                    <a:close/>
                    <a:moveTo>
                      <a:pt x="10524" y="7258"/>
                    </a:moveTo>
                    <a:cubicBezTo>
                      <a:pt x="11084" y="7514"/>
                      <a:pt x="11656" y="7793"/>
                      <a:pt x="12236" y="8099"/>
                    </a:cubicBezTo>
                    <a:cubicBezTo>
                      <a:pt x="12807" y="8399"/>
                      <a:pt x="13361" y="8709"/>
                      <a:pt x="13892" y="9029"/>
                    </a:cubicBezTo>
                    <a:cubicBezTo>
                      <a:pt x="13929" y="9598"/>
                      <a:pt x="13948" y="10189"/>
                      <a:pt x="13948" y="10799"/>
                    </a:cubicBezTo>
                    <a:cubicBezTo>
                      <a:pt x="13948" y="11410"/>
                      <a:pt x="13927" y="12000"/>
                      <a:pt x="13890" y="12570"/>
                    </a:cubicBezTo>
                    <a:cubicBezTo>
                      <a:pt x="13359" y="12889"/>
                      <a:pt x="12806" y="13201"/>
                      <a:pt x="12236" y="13501"/>
                    </a:cubicBezTo>
                    <a:cubicBezTo>
                      <a:pt x="11655" y="13807"/>
                      <a:pt x="11084" y="14087"/>
                      <a:pt x="10524" y="14342"/>
                    </a:cubicBezTo>
                    <a:cubicBezTo>
                      <a:pt x="9964" y="14087"/>
                      <a:pt x="9393" y="13807"/>
                      <a:pt x="8812" y="13501"/>
                    </a:cubicBezTo>
                    <a:cubicBezTo>
                      <a:pt x="8241" y="13201"/>
                      <a:pt x="7689" y="12891"/>
                      <a:pt x="7158" y="12571"/>
                    </a:cubicBezTo>
                    <a:cubicBezTo>
                      <a:pt x="7121" y="12002"/>
                      <a:pt x="7100" y="11410"/>
                      <a:pt x="7100" y="10799"/>
                    </a:cubicBezTo>
                    <a:cubicBezTo>
                      <a:pt x="7100" y="10189"/>
                      <a:pt x="7121" y="9598"/>
                      <a:pt x="7158" y="9029"/>
                    </a:cubicBezTo>
                    <a:cubicBezTo>
                      <a:pt x="7689" y="8709"/>
                      <a:pt x="8241" y="8399"/>
                      <a:pt x="8812" y="8099"/>
                    </a:cubicBezTo>
                    <a:cubicBezTo>
                      <a:pt x="9393" y="7793"/>
                      <a:pt x="9964" y="7514"/>
                      <a:pt x="10524" y="7258"/>
                    </a:cubicBezTo>
                    <a:close/>
                    <a:moveTo>
                      <a:pt x="10524" y="9608"/>
                    </a:moveTo>
                    <a:cubicBezTo>
                      <a:pt x="10189" y="9608"/>
                      <a:pt x="9855" y="9724"/>
                      <a:pt x="9600" y="9957"/>
                    </a:cubicBezTo>
                    <a:cubicBezTo>
                      <a:pt x="9089" y="10422"/>
                      <a:pt x="9089" y="11178"/>
                      <a:pt x="9600" y="11643"/>
                    </a:cubicBezTo>
                    <a:cubicBezTo>
                      <a:pt x="10110" y="12108"/>
                      <a:pt x="10938" y="12108"/>
                      <a:pt x="11448" y="11643"/>
                    </a:cubicBezTo>
                    <a:cubicBezTo>
                      <a:pt x="11959" y="11178"/>
                      <a:pt x="11959" y="10422"/>
                      <a:pt x="11448" y="9957"/>
                    </a:cubicBezTo>
                    <a:cubicBezTo>
                      <a:pt x="11193" y="9724"/>
                      <a:pt x="10859" y="9608"/>
                      <a:pt x="10524" y="9608"/>
                    </a:cubicBezTo>
                    <a:close/>
                    <a:moveTo>
                      <a:pt x="6185" y="9638"/>
                    </a:moveTo>
                    <a:cubicBezTo>
                      <a:pt x="6169" y="10021"/>
                      <a:pt x="6161" y="10408"/>
                      <a:pt x="6161" y="10799"/>
                    </a:cubicBezTo>
                    <a:cubicBezTo>
                      <a:pt x="6161" y="11190"/>
                      <a:pt x="6169" y="11579"/>
                      <a:pt x="6185" y="11962"/>
                    </a:cubicBezTo>
                    <a:cubicBezTo>
                      <a:pt x="5601" y="11581"/>
                      <a:pt x="5050" y="11191"/>
                      <a:pt x="4540" y="10799"/>
                    </a:cubicBezTo>
                    <a:cubicBezTo>
                      <a:pt x="5050" y="10407"/>
                      <a:pt x="5601" y="10019"/>
                      <a:pt x="6185" y="9638"/>
                    </a:cubicBezTo>
                    <a:close/>
                    <a:moveTo>
                      <a:pt x="14863" y="9638"/>
                    </a:moveTo>
                    <a:cubicBezTo>
                      <a:pt x="15447" y="10019"/>
                      <a:pt x="15998" y="10407"/>
                      <a:pt x="16508" y="10799"/>
                    </a:cubicBezTo>
                    <a:cubicBezTo>
                      <a:pt x="15998" y="11191"/>
                      <a:pt x="15447" y="11581"/>
                      <a:pt x="14863" y="11962"/>
                    </a:cubicBezTo>
                    <a:cubicBezTo>
                      <a:pt x="14879" y="11579"/>
                      <a:pt x="14887" y="11190"/>
                      <a:pt x="14887" y="10799"/>
                    </a:cubicBezTo>
                    <a:cubicBezTo>
                      <a:pt x="14887" y="10408"/>
                      <a:pt x="14879" y="10021"/>
                      <a:pt x="14863" y="9638"/>
                    </a:cubicBezTo>
                    <a:close/>
                    <a:moveTo>
                      <a:pt x="3828" y="11371"/>
                    </a:moveTo>
                    <a:cubicBezTo>
                      <a:pt x="4562" y="11942"/>
                      <a:pt x="5377" y="12505"/>
                      <a:pt x="6252" y="13047"/>
                    </a:cubicBezTo>
                    <a:cubicBezTo>
                      <a:pt x="6330" y="14009"/>
                      <a:pt x="6458" y="14933"/>
                      <a:pt x="6633" y="15797"/>
                    </a:cubicBezTo>
                    <a:cubicBezTo>
                      <a:pt x="5206" y="16204"/>
                      <a:pt x="3968" y="16403"/>
                      <a:pt x="3015" y="16403"/>
                    </a:cubicBezTo>
                    <a:cubicBezTo>
                      <a:pt x="2020" y="16403"/>
                      <a:pt x="1335" y="16187"/>
                      <a:pt x="1072" y="15772"/>
                    </a:cubicBezTo>
                    <a:cubicBezTo>
                      <a:pt x="672" y="15141"/>
                      <a:pt x="1217" y="13947"/>
                      <a:pt x="2530" y="12577"/>
                    </a:cubicBezTo>
                    <a:cubicBezTo>
                      <a:pt x="2912" y="12178"/>
                      <a:pt x="3348" y="11774"/>
                      <a:pt x="3828" y="11371"/>
                    </a:cubicBezTo>
                    <a:close/>
                    <a:moveTo>
                      <a:pt x="17220" y="11371"/>
                    </a:moveTo>
                    <a:cubicBezTo>
                      <a:pt x="17700" y="11774"/>
                      <a:pt x="18136" y="12178"/>
                      <a:pt x="18518" y="12577"/>
                    </a:cubicBezTo>
                    <a:cubicBezTo>
                      <a:pt x="19831" y="13947"/>
                      <a:pt x="20376" y="15141"/>
                      <a:pt x="19976" y="15772"/>
                    </a:cubicBezTo>
                    <a:cubicBezTo>
                      <a:pt x="19713" y="16187"/>
                      <a:pt x="19030" y="16403"/>
                      <a:pt x="18035" y="16403"/>
                    </a:cubicBezTo>
                    <a:cubicBezTo>
                      <a:pt x="17082" y="16403"/>
                      <a:pt x="15842" y="16204"/>
                      <a:pt x="14415" y="15797"/>
                    </a:cubicBezTo>
                    <a:cubicBezTo>
                      <a:pt x="14590" y="14933"/>
                      <a:pt x="14718" y="14009"/>
                      <a:pt x="14796" y="13047"/>
                    </a:cubicBezTo>
                    <a:cubicBezTo>
                      <a:pt x="15671" y="12505"/>
                      <a:pt x="16486" y="11942"/>
                      <a:pt x="17220" y="11371"/>
                    </a:cubicBezTo>
                    <a:close/>
                    <a:moveTo>
                      <a:pt x="7248" y="13642"/>
                    </a:moveTo>
                    <a:cubicBezTo>
                      <a:pt x="7605" y="13846"/>
                      <a:pt x="7971" y="14047"/>
                      <a:pt x="8343" y="14242"/>
                    </a:cubicBezTo>
                    <a:cubicBezTo>
                      <a:pt x="8715" y="14438"/>
                      <a:pt x="9088" y="14625"/>
                      <a:pt x="9461" y="14805"/>
                    </a:cubicBezTo>
                    <a:cubicBezTo>
                      <a:pt x="8794" y="15080"/>
                      <a:pt x="8148" y="15319"/>
                      <a:pt x="7532" y="15522"/>
                    </a:cubicBezTo>
                    <a:cubicBezTo>
                      <a:pt x="7416" y="14934"/>
                      <a:pt x="7320" y="14305"/>
                      <a:pt x="7248" y="13642"/>
                    </a:cubicBezTo>
                    <a:close/>
                    <a:moveTo>
                      <a:pt x="13800" y="13642"/>
                    </a:moveTo>
                    <a:cubicBezTo>
                      <a:pt x="13728" y="14305"/>
                      <a:pt x="13632" y="14934"/>
                      <a:pt x="13516" y="15522"/>
                    </a:cubicBezTo>
                    <a:cubicBezTo>
                      <a:pt x="12900" y="15319"/>
                      <a:pt x="12256" y="15080"/>
                      <a:pt x="11589" y="14805"/>
                    </a:cubicBezTo>
                    <a:cubicBezTo>
                      <a:pt x="11962" y="14625"/>
                      <a:pt x="12335" y="14438"/>
                      <a:pt x="12706" y="14242"/>
                    </a:cubicBezTo>
                    <a:cubicBezTo>
                      <a:pt x="13078" y="14047"/>
                      <a:pt x="13443" y="13846"/>
                      <a:pt x="13800" y="13642"/>
                    </a:cubicBezTo>
                    <a:close/>
                    <a:moveTo>
                      <a:pt x="10524" y="15294"/>
                    </a:moveTo>
                    <a:cubicBezTo>
                      <a:pt x="11478" y="15713"/>
                      <a:pt x="12420" y="16075"/>
                      <a:pt x="13329" y="16369"/>
                    </a:cubicBezTo>
                    <a:cubicBezTo>
                      <a:pt x="12661" y="19087"/>
                      <a:pt x="11556" y="20744"/>
                      <a:pt x="10524" y="20744"/>
                    </a:cubicBezTo>
                    <a:cubicBezTo>
                      <a:pt x="9492" y="20744"/>
                      <a:pt x="8386" y="19087"/>
                      <a:pt x="7719" y="16369"/>
                    </a:cubicBezTo>
                    <a:cubicBezTo>
                      <a:pt x="8628" y="16075"/>
                      <a:pt x="9571" y="15713"/>
                      <a:pt x="10524" y="152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</p:grpSp>
      </p:grpSp>
      <p:sp>
        <p:nvSpPr>
          <p:cNvPr id="215" name="Microscopio"/>
          <p:cNvSpPr/>
          <p:nvPr/>
        </p:nvSpPr>
        <p:spPr>
          <a:xfrm>
            <a:off x="15921642" y="8804361"/>
            <a:ext cx="709269" cy="10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58" y="0"/>
                </a:moveTo>
                <a:lnTo>
                  <a:pt x="5450" y="778"/>
                </a:lnTo>
                <a:lnTo>
                  <a:pt x="6641" y="3247"/>
                </a:lnTo>
                <a:lnTo>
                  <a:pt x="5792" y="3446"/>
                </a:lnTo>
                <a:lnTo>
                  <a:pt x="6104" y="4092"/>
                </a:lnTo>
                <a:cubicBezTo>
                  <a:pt x="6260" y="4416"/>
                  <a:pt x="6045" y="4765"/>
                  <a:pt x="5610" y="4922"/>
                </a:cubicBezTo>
                <a:cubicBezTo>
                  <a:pt x="2282" y="6123"/>
                  <a:pt x="0" y="8548"/>
                  <a:pt x="0" y="11338"/>
                </a:cubicBezTo>
                <a:cubicBezTo>
                  <a:pt x="0" y="13653"/>
                  <a:pt x="1568" y="15716"/>
                  <a:pt x="4002" y="17038"/>
                </a:cubicBezTo>
                <a:cubicBezTo>
                  <a:pt x="4586" y="17355"/>
                  <a:pt x="4834" y="17888"/>
                  <a:pt x="4600" y="18378"/>
                </a:cubicBezTo>
                <a:lnTo>
                  <a:pt x="4184" y="19249"/>
                </a:lnTo>
                <a:lnTo>
                  <a:pt x="1504" y="19249"/>
                </a:lnTo>
                <a:lnTo>
                  <a:pt x="383" y="21600"/>
                </a:lnTo>
                <a:lnTo>
                  <a:pt x="21600" y="21600"/>
                </a:lnTo>
                <a:lnTo>
                  <a:pt x="20479" y="19249"/>
                </a:lnTo>
                <a:lnTo>
                  <a:pt x="11598" y="19249"/>
                </a:lnTo>
                <a:lnTo>
                  <a:pt x="10562" y="17077"/>
                </a:lnTo>
                <a:lnTo>
                  <a:pt x="11571" y="16839"/>
                </a:lnTo>
                <a:lnTo>
                  <a:pt x="11765" y="17236"/>
                </a:lnTo>
                <a:cubicBezTo>
                  <a:pt x="11884" y="17482"/>
                  <a:pt x="13400" y="17349"/>
                  <a:pt x="15152" y="16937"/>
                </a:cubicBezTo>
                <a:cubicBezTo>
                  <a:pt x="16905" y="16524"/>
                  <a:pt x="18230" y="15990"/>
                  <a:pt x="18111" y="15743"/>
                </a:cubicBezTo>
                <a:lnTo>
                  <a:pt x="17339" y="14141"/>
                </a:lnTo>
                <a:lnTo>
                  <a:pt x="9985" y="15870"/>
                </a:lnTo>
                <a:lnTo>
                  <a:pt x="9392" y="14628"/>
                </a:lnTo>
                <a:lnTo>
                  <a:pt x="18738" y="12430"/>
                </a:lnTo>
                <a:lnTo>
                  <a:pt x="18157" y="11225"/>
                </a:lnTo>
                <a:lnTo>
                  <a:pt x="8816" y="13422"/>
                </a:lnTo>
                <a:cubicBezTo>
                  <a:pt x="8484" y="12824"/>
                  <a:pt x="7243" y="12835"/>
                  <a:pt x="6947" y="13456"/>
                </a:cubicBezTo>
                <a:lnTo>
                  <a:pt x="6503" y="14386"/>
                </a:lnTo>
                <a:cubicBezTo>
                  <a:pt x="6304" y="14804"/>
                  <a:pt x="5529" y="14924"/>
                  <a:pt x="5109" y="14596"/>
                </a:cubicBezTo>
                <a:cubicBezTo>
                  <a:pt x="4000" y="13729"/>
                  <a:pt x="3324" y="12589"/>
                  <a:pt x="3324" y="11338"/>
                </a:cubicBezTo>
                <a:cubicBezTo>
                  <a:pt x="3324" y="9736"/>
                  <a:pt x="4435" y="8310"/>
                  <a:pt x="6145" y="7417"/>
                </a:cubicBezTo>
                <a:cubicBezTo>
                  <a:pt x="6760" y="7095"/>
                  <a:pt x="7648" y="7292"/>
                  <a:pt x="7893" y="7801"/>
                </a:cubicBezTo>
                <a:lnTo>
                  <a:pt x="8198" y="8499"/>
                </a:lnTo>
                <a:cubicBezTo>
                  <a:pt x="7412" y="8705"/>
                  <a:pt x="6996" y="9308"/>
                  <a:pt x="7266" y="9868"/>
                </a:cubicBezTo>
                <a:lnTo>
                  <a:pt x="7411" y="10170"/>
                </a:lnTo>
                <a:lnTo>
                  <a:pt x="10048" y="9550"/>
                </a:lnTo>
                <a:lnTo>
                  <a:pt x="11155" y="11844"/>
                </a:lnTo>
                <a:lnTo>
                  <a:pt x="13852" y="11208"/>
                </a:lnTo>
                <a:lnTo>
                  <a:pt x="12745" y="8916"/>
                </a:lnTo>
                <a:lnTo>
                  <a:pt x="15302" y="8314"/>
                </a:lnTo>
                <a:lnTo>
                  <a:pt x="15157" y="8012"/>
                </a:lnTo>
                <a:cubicBezTo>
                  <a:pt x="14886" y="7450"/>
                  <a:pt x="14024" y="7146"/>
                  <a:pt x="13218" y="7317"/>
                </a:cubicBezTo>
                <a:lnTo>
                  <a:pt x="10821" y="2265"/>
                </a:lnTo>
                <a:lnTo>
                  <a:pt x="9949" y="2469"/>
                </a:lnTo>
                <a:lnTo>
                  <a:pt x="8758" y="0"/>
                </a:lnTo>
                <a:close/>
                <a:moveTo>
                  <a:pt x="7777" y="15736"/>
                </a:moveTo>
                <a:cubicBezTo>
                  <a:pt x="8266" y="15736"/>
                  <a:pt x="8661" y="16014"/>
                  <a:pt x="8661" y="16355"/>
                </a:cubicBezTo>
                <a:cubicBezTo>
                  <a:pt x="8661" y="16696"/>
                  <a:pt x="8266" y="16972"/>
                  <a:pt x="7777" y="16972"/>
                </a:cubicBezTo>
                <a:cubicBezTo>
                  <a:pt x="7288" y="16972"/>
                  <a:pt x="6891" y="16696"/>
                  <a:pt x="6891" y="16355"/>
                </a:cubicBezTo>
                <a:cubicBezTo>
                  <a:pt x="6891" y="16014"/>
                  <a:pt x="7288" y="15736"/>
                  <a:pt x="7777" y="15736"/>
                </a:cubicBezTo>
                <a:close/>
              </a:path>
            </a:pathLst>
          </a:custGeom>
          <a:solidFill>
            <a:schemeClr val="accent1"/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510" name="Rettangolo arrotondato"/>
          <p:cNvSpPr/>
          <p:nvPr/>
        </p:nvSpPr>
        <p:spPr>
          <a:xfrm>
            <a:off x="1319379" y="39646423"/>
            <a:ext cx="27624396" cy="2721917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>
              <a:solidFill>
                <a:srgbClr val="F0F0F0"/>
              </a:solidFill>
            </a:endParaRPr>
          </a:p>
        </p:txBody>
      </p:sp>
      <p:sp>
        <p:nvSpPr>
          <p:cNvPr id="511" name="[1] M. Larocca, et al., Theory of overparametrization in quantum neural networks, Nature Computational Science (2023)…"/>
          <p:cNvSpPr txBox="1"/>
          <p:nvPr/>
        </p:nvSpPr>
        <p:spPr>
          <a:xfrm>
            <a:off x="1683019" y="40001420"/>
            <a:ext cx="26914532" cy="179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6745" tIns="56745" rIns="56745" bIns="56745">
            <a:noAutofit/>
          </a:bodyPr>
          <a:lstStyle/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[1] E. Farhi, J. Goldstone, and S. Gutmann, «A quantum approximate optimization algorithm», 2014.</a:t>
            </a: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[2] K. </a:t>
            </a:r>
            <a:r>
              <a:rPr lang="en-US" sz="2500" noProof="0" dirty="0" err="1">
                <a:solidFill>
                  <a:srgbClr val="000000"/>
                </a:solidFill>
              </a:rPr>
              <a:t>Blekos,et</a:t>
            </a:r>
            <a:r>
              <a:rPr lang="en-US" sz="2500" noProof="0" dirty="0">
                <a:solidFill>
                  <a:srgbClr val="000000"/>
                </a:solidFill>
              </a:rPr>
              <a:t> al., « A review on quantum </a:t>
            </a:r>
            <a:r>
              <a:rPr lang="en-US" sz="2500" noProof="0" dirty="0" err="1">
                <a:solidFill>
                  <a:srgbClr val="000000"/>
                </a:solidFill>
              </a:rPr>
              <a:t>approximateoptimization</a:t>
            </a:r>
            <a:r>
              <a:rPr lang="en-US" sz="2500" noProof="0" dirty="0">
                <a:solidFill>
                  <a:srgbClr val="000000"/>
                </a:solidFill>
              </a:rPr>
              <a:t> algorithm and its variants», Physics Reports, 2023.</a:t>
            </a: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[3] M. Cerezo, A. Arrasmith, et al., «Variational quantum algorithms», Nature </a:t>
            </a:r>
            <a:r>
              <a:rPr lang="en-US" sz="2500" noProof="0" dirty="0" err="1">
                <a:solidFill>
                  <a:srgbClr val="000000"/>
                </a:solidFill>
              </a:rPr>
              <a:t>Rev.Phys</a:t>
            </a:r>
            <a:r>
              <a:rPr lang="en-US" sz="2500" noProof="0" dirty="0">
                <a:solidFill>
                  <a:srgbClr val="000000"/>
                </a:solidFill>
              </a:rPr>
              <a:t>. v. 3, no. 9, pp. 625-644, 2021</a:t>
            </a: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[4] M. Larocca, S. </a:t>
            </a:r>
            <a:r>
              <a:rPr lang="en-US" sz="2500" noProof="0" dirty="0" err="1">
                <a:solidFill>
                  <a:srgbClr val="000000"/>
                </a:solidFill>
              </a:rPr>
              <a:t>Thanasilp</a:t>
            </a:r>
            <a:r>
              <a:rPr lang="en-US" sz="2500" noProof="0" dirty="0">
                <a:solidFill>
                  <a:srgbClr val="000000"/>
                </a:solidFill>
              </a:rPr>
              <a:t>, et al., «Barren Plateaus in Variational Quantum Computing», Nature Reviews Physics 1-16, 2025.</a:t>
            </a:r>
          </a:p>
        </p:txBody>
      </p:sp>
      <p:sp>
        <p:nvSpPr>
          <p:cNvPr id="615" name="• If the model’s performance on the testing set gets worse than on the training set over the iterations, it probably indicates overfitting…"/>
          <p:cNvSpPr txBox="1"/>
          <p:nvPr/>
        </p:nvSpPr>
        <p:spPr>
          <a:xfrm flipH="1">
            <a:off x="8930576" y="31808576"/>
            <a:ext cx="4486629" cy="2820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3050" tIns="63050" rIns="63050" bIns="63050" anchor="ctr">
            <a:spAutoFit/>
          </a:bodyPr>
          <a:lstStyle/>
          <a:p>
            <a:pPr algn="l">
              <a:defRPr sz="2500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noProof="0" dirty="0"/>
              <a:t>• If the model’s performance on the testing set gets worse than on the training set over the iterations, it probably indicates </a:t>
            </a:r>
            <a:r>
              <a:rPr lang="en-US" b="1" noProof="0" dirty="0"/>
              <a:t>overfitting</a:t>
            </a:r>
            <a:r>
              <a:rPr lang="en-US" noProof="0" dirty="0"/>
              <a:t> </a:t>
            </a:r>
          </a:p>
          <a:p>
            <a:pPr algn="l">
              <a:defRPr sz="2500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noProof="0" dirty="0"/>
              <a:t>• A model is likely to overfit if it is </a:t>
            </a:r>
            <a:r>
              <a:rPr lang="en-US" b="1" noProof="0" dirty="0"/>
              <a:t>overparametrized</a:t>
            </a:r>
          </a:p>
        </p:txBody>
      </p:sp>
      <p:sp>
        <p:nvSpPr>
          <p:cNvPr id="639" name="[3] F. Scala, A. Ceschini, et al., A general approach to Dropout in Quantum Neural Networks, ArXiv 2310…."/>
          <p:cNvSpPr txBox="1"/>
          <p:nvPr/>
        </p:nvSpPr>
        <p:spPr>
          <a:xfrm>
            <a:off x="16201259" y="40635660"/>
            <a:ext cx="9913474" cy="5889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 defTabSz="2575865">
              <a:defRPr sz="300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endParaRPr lang="en-US" noProof="0" dirty="0"/>
          </a:p>
        </p:txBody>
      </p:sp>
      <p:sp>
        <p:nvSpPr>
          <p:cNvPr id="640" name="BIBLIOGRAPHY"/>
          <p:cNvSpPr txBox="1"/>
          <p:nvPr/>
        </p:nvSpPr>
        <p:spPr>
          <a:xfrm rot="16200000">
            <a:off x="-1203252" y="40468065"/>
            <a:ext cx="3772017" cy="8198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3050" tIns="63050" rIns="63050" bIns="63050" anchor="ctr">
            <a:spAutoFit/>
          </a:bodyPr>
          <a:lstStyle>
            <a:lvl1pPr defTabSz="2575865">
              <a:defRPr sz="30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sz="4500" spc="-20" noProof="0" dirty="0"/>
              <a:t>REFERENCES</a:t>
            </a:r>
          </a:p>
        </p:txBody>
      </p:sp>
      <p:sp>
        <p:nvSpPr>
          <p:cNvPr id="17" name="Rettangolo arrotondato">
            <a:extLst>
              <a:ext uri="{FF2B5EF4-FFF2-40B4-BE49-F238E27FC236}">
                <a16:creationId xmlns:a16="http://schemas.microsoft.com/office/drawing/2014/main" id="{1973C336-4E72-F458-4947-3B98B3C80A8C}"/>
              </a:ext>
            </a:extLst>
          </p:cNvPr>
          <p:cNvSpPr/>
          <p:nvPr/>
        </p:nvSpPr>
        <p:spPr>
          <a:xfrm>
            <a:off x="1319379" y="24982167"/>
            <a:ext cx="27624396" cy="14285002"/>
          </a:xfrm>
          <a:prstGeom prst="roundRect">
            <a:avLst>
              <a:gd name="adj" fmla="val 1945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2" name="Rettangolo arrotondato">
            <a:extLst>
              <a:ext uri="{FF2B5EF4-FFF2-40B4-BE49-F238E27FC236}">
                <a16:creationId xmlns:a16="http://schemas.microsoft.com/office/drawing/2014/main" id="{3A85B524-4D0C-DB92-E9B3-FD0B8B7A5DEC}"/>
              </a:ext>
            </a:extLst>
          </p:cNvPr>
          <p:cNvSpPr/>
          <p:nvPr/>
        </p:nvSpPr>
        <p:spPr>
          <a:xfrm>
            <a:off x="1319380" y="13791930"/>
            <a:ext cx="27624394" cy="1080553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r>
              <a:rPr lang="en-US" sz="9600" noProof="0" dirty="0"/>
              <a:t>networks (QLSTM) and classical networks (Bi-LSTM, LSTM, GRU).</a:t>
            </a:r>
          </a:p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F235CC4-68E2-B524-D96D-D038B240E70A}"/>
              </a:ext>
            </a:extLst>
          </p:cNvPr>
          <p:cNvSpPr txBox="1"/>
          <p:nvPr/>
        </p:nvSpPr>
        <p:spPr>
          <a:xfrm>
            <a:off x="10583488" y="29638740"/>
            <a:ext cx="17861778" cy="89677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R="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500" noProof="0" dirty="0"/>
          </a:p>
          <a:p>
            <a:pPr marL="342900" marR="0" indent="-34290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500" b="0" i="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C1AAE1E-6EC1-E380-2228-75F1C3D896F5}"/>
              </a:ext>
            </a:extLst>
          </p:cNvPr>
          <p:cNvSpPr txBox="1"/>
          <p:nvPr/>
        </p:nvSpPr>
        <p:spPr>
          <a:xfrm flipH="1">
            <a:off x="19711729" y="23206210"/>
            <a:ext cx="5979902" cy="52744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2</a:t>
            </a:r>
            <a:r>
              <a:rPr lang="en-US" sz="2600" i="1" noProof="0" dirty="0">
                <a:solidFill>
                  <a:srgbClr val="000000"/>
                </a:solidFill>
              </a:rPr>
              <a:t>: Architecture of QANS</a:t>
            </a:r>
            <a:endParaRPr kumimoji="0" lang="en-US" sz="2600" b="0" i="1" u="none" strike="noStrike" cap="none" spc="136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465180-FFFE-C1F4-8FA3-03EAAF2C10F6}"/>
              </a:ext>
            </a:extLst>
          </p:cNvPr>
          <p:cNvSpPr txBox="1"/>
          <p:nvPr/>
        </p:nvSpPr>
        <p:spPr>
          <a:xfrm>
            <a:off x="2388083" y="31120012"/>
            <a:ext cx="7440970" cy="92755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2:</a:t>
            </a:r>
            <a:r>
              <a:rPr lang="en-US" sz="2600" i="1" noProof="0" dirty="0">
                <a:solidFill>
                  <a:srgbClr val="000000"/>
                </a:solidFill>
              </a:rPr>
              <a:t> Comparison of measurements outcomes for a complete graph with n=10.</a:t>
            </a:r>
            <a:endParaRPr kumimoji="0" lang="en-US" sz="2600" b="0" i="1" u="none" strike="noStrike" cap="none" spc="136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9424B5-9032-AFC9-9191-1AA159BB7EF7}"/>
              </a:ext>
            </a:extLst>
          </p:cNvPr>
          <p:cNvSpPr txBox="1"/>
          <p:nvPr/>
        </p:nvSpPr>
        <p:spPr>
          <a:xfrm>
            <a:off x="2088304" y="38085612"/>
            <a:ext cx="8040529" cy="92755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r>
              <a:rPr lang="en-US" sz="2600" b="1" i="1" noProof="0" dirty="0">
                <a:solidFill>
                  <a:srgbClr val="000000"/>
                </a:solidFill>
              </a:rPr>
              <a:t>Fig. </a:t>
            </a:r>
            <a:r>
              <a:rPr lang="en-US" sz="2600" b="1" i="1" dirty="0">
                <a:solidFill>
                  <a:srgbClr val="000000"/>
                </a:solidFill>
              </a:rPr>
              <a:t>3:</a:t>
            </a:r>
            <a:r>
              <a:rPr lang="en-US" sz="2600" i="1" noProof="0" dirty="0">
                <a:solidFill>
                  <a:srgbClr val="000000"/>
                </a:solidFill>
              </a:rPr>
              <a:t> </a:t>
            </a:r>
            <a:r>
              <a:rPr lang="en-US" sz="2600" i="1" dirty="0">
                <a:solidFill>
                  <a:srgbClr val="000000"/>
                </a:solidFill>
              </a:rPr>
              <a:t>Comparison of measurements outcomes for an Erdős–Rényi  graph with n=10.</a:t>
            </a:r>
            <a:endParaRPr kumimoji="0" lang="en-US" sz="2600" b="0" i="1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3037013-7767-42FB-3780-B30D28159F55}"/>
              </a:ext>
            </a:extLst>
          </p:cNvPr>
          <p:cNvSpPr txBox="1"/>
          <p:nvPr/>
        </p:nvSpPr>
        <p:spPr>
          <a:xfrm>
            <a:off x="15368800" y="37005789"/>
            <a:ext cx="8035227" cy="52744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600" b="1" i="1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Table 1: </a:t>
            </a:r>
            <a:r>
              <a:rPr kumimoji="0" lang="en-US" sz="2600" i="1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Performances of the </a:t>
            </a:r>
            <a:r>
              <a:rPr lang="en-US" sz="2600" i="1" noProof="0" dirty="0">
                <a:solidFill>
                  <a:srgbClr val="000000"/>
                </a:solidFill>
              </a:rPr>
              <a:t>t</a:t>
            </a:r>
            <a:r>
              <a:rPr kumimoji="0" lang="en-US" sz="2600" i="1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ested </a:t>
            </a:r>
            <a:r>
              <a:rPr lang="en-US" sz="2600" i="1" noProof="0" dirty="0">
                <a:solidFill>
                  <a:srgbClr val="000000"/>
                </a:solidFill>
              </a:rPr>
              <a:t>a</a:t>
            </a:r>
            <a:r>
              <a:rPr kumimoji="0" lang="en-US" sz="2600" i="1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rchitectures</a:t>
            </a:r>
            <a:r>
              <a:rPr kumimoji="0" lang="en-US" sz="2600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.</a:t>
            </a:r>
            <a:r>
              <a:rPr kumimoji="0" lang="en-US" sz="2600" b="1" u="none" strike="noStrike" cap="none" spc="13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 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B9AB449-0564-6924-93F3-1F86116B789B}"/>
              </a:ext>
            </a:extLst>
          </p:cNvPr>
          <p:cNvSpPr txBox="1"/>
          <p:nvPr/>
        </p:nvSpPr>
        <p:spPr>
          <a:xfrm>
            <a:off x="1682791" y="18872206"/>
            <a:ext cx="9481027" cy="91216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438150" marR="0" indent="-34290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500" noProof="0" dirty="0"/>
          </a:p>
          <a:p>
            <a:pPr marL="342900" marR="0" indent="-34290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500" b="0" i="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4EB6F84-5E3D-EC57-E458-4BBA14A50DD6}"/>
              </a:ext>
            </a:extLst>
          </p:cNvPr>
          <p:cNvSpPr/>
          <p:nvPr/>
        </p:nvSpPr>
        <p:spPr>
          <a:xfrm>
            <a:off x="0" y="-43622"/>
            <a:ext cx="30347400" cy="2768423"/>
          </a:xfrm>
          <a:prstGeom prst="rect">
            <a:avLst/>
          </a:prstGeom>
          <a:solidFill>
            <a:srgbClr val="2A65B0"/>
          </a:solidFill>
          <a:ln>
            <a:solidFill>
              <a:srgbClr val="2A6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8" name="Google Shape;140;p1">
            <a:extLst>
              <a:ext uri="{FF2B5EF4-FFF2-40B4-BE49-F238E27FC236}">
                <a16:creationId xmlns:a16="http://schemas.microsoft.com/office/drawing/2014/main" id="{1D17FC4B-6B0C-D5C1-80CA-15034B35B6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662" b="32454"/>
          <a:stretch/>
        </p:blipFill>
        <p:spPr>
          <a:xfrm>
            <a:off x="2136778" y="412880"/>
            <a:ext cx="25969191" cy="218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4C6AC54-5F23-67D7-D997-13059E6E8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8277" y="14593365"/>
            <a:ext cx="11326806" cy="8068801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A1981D1C-081A-8546-D235-1DA8545D4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303" y="25358195"/>
            <a:ext cx="7660800" cy="574796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706896E0-6026-D52C-7A4C-E8BBE290E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8000" y="32308716"/>
            <a:ext cx="7659169" cy="57157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4F68FC-3B50-C1A4-7B86-AF9E0FF81567}"/>
                  </a:ext>
                </a:extLst>
              </p:cNvPr>
              <p:cNvSpPr txBox="1"/>
              <p:nvPr/>
            </p:nvSpPr>
            <p:spPr>
              <a:xfrm>
                <a:off x="1791554" y="14594400"/>
                <a:ext cx="14056418" cy="929791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3050" tIns="63050" rIns="63050" bIns="63050" numCol="1" spcCol="38100" rtlCol="0" anchor="ctr">
                <a:spAutoFit/>
              </a:bodyPr>
              <a:lstStyle/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600" b="1" noProof="0" dirty="0">
                    <a:solidFill>
                      <a:srgbClr val="000000"/>
                    </a:solidFill>
                  </a:rPr>
                  <a:t>Quantum neural network framework: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QANS is a quantum neural network-based approach inspired by variational quantum algorithms [3] for solving the </a:t>
                </a:r>
                <a:r>
                  <a:rPr lang="en-US" sz="2600" noProof="0" dirty="0" err="1">
                    <a:solidFill>
                      <a:srgbClr val="000000"/>
                    </a:solidFill>
                  </a:rPr>
                  <a:t>MaxCut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problem.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600" b="1" noProof="0" dirty="0">
                    <a:solidFill>
                      <a:srgbClr val="000000"/>
                    </a:solidFill>
                  </a:rPr>
                  <a:t>Initialization: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Given an </a:t>
                </a:r>
                <a14:m>
                  <m:oMath xmlns:m="http://schemas.openxmlformats.org/officeDocument/2006/math">
                    <m:r>
                      <a:rPr lang="en-US" sz="26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-qubit register, the system </a:t>
                </a:r>
                <a:r>
                  <a:rPr lang="en-US" sz="2600" dirty="0">
                    <a:solidFill>
                      <a:srgbClr val="000000"/>
                    </a:solidFill>
                  </a:rPr>
                  <a:t>is initialized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in the computational basis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600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=∣0</m:t>
                    </m:r>
                    <m:sSup>
                      <m:sSup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en-US" sz="260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en-US" sz="2600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600" b="1" noProof="0" dirty="0">
                    <a:solidFill>
                      <a:srgbClr val="000000"/>
                    </a:solidFill>
                  </a:rPr>
                  <a:t>Parameterized evolution: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The state evolves under a parameterized unitary </a:t>
                </a:r>
                <a14:m>
                  <m:oMath xmlns:m="http://schemas.openxmlformats.org/officeDocument/2006/math">
                    <m:r>
                      <a:rPr lang="en-US" sz="26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, resulting in </a:t>
                </a:r>
                <a14:m>
                  <m:oMath xmlns:m="http://schemas.openxmlformats.org/officeDocument/2006/math">
                    <m:r>
                      <a:rPr lang="en-US" sz="26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6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600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600" b="1" noProof="0" dirty="0">
                    <a:solidFill>
                      <a:srgbClr val="000000"/>
                    </a:solidFill>
                  </a:rPr>
                  <a:t>Cost function: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The cost function is defined as the expectation value of the cost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noProof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60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600" noProof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260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600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600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sz="2600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sz="26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algn="l"/>
                <a:r>
                  <a:rPr lang="en-US" sz="2600" noProof="0" dirty="0">
                    <a:solidFill>
                      <a:srgbClr val="000000"/>
                    </a:solidFill>
                  </a:rPr>
                  <a:t>      The goal is to find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600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that maximize </a:t>
                </a:r>
                <a14:m>
                  <m:oMath xmlns:m="http://schemas.openxmlformats.org/officeDocument/2006/math">
                    <m:r>
                      <a:rPr lang="en-US" sz="26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.</a:t>
                </a:r>
              </a:p>
              <a:p>
                <a:pPr algn="l"/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r>
                  <a:rPr lang="en-US" sz="2600" b="1" noProof="0" dirty="0">
                    <a:solidFill>
                      <a:srgbClr val="000000"/>
                    </a:solidFill>
                  </a:rPr>
                  <a:t>Key difference from QAOA:</a:t>
                </a:r>
                <a:r>
                  <a:rPr lang="en-US" sz="2600" noProof="0" dirty="0">
                    <a:solidFill>
                      <a:srgbClr val="000000"/>
                    </a:solidFill>
                  </a:rPr>
                  <a:t> Unlike QAOA, QANS does not explicitly encode the cost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6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or the mixer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6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600" noProof="0" dirty="0">
                    <a:solidFill>
                      <a:srgbClr val="000000"/>
                    </a:solidFill>
                  </a:rPr>
                  <a:t>. Instead, it employs alternative ansatz </a:t>
                </a:r>
                <a:r>
                  <a:rPr lang="en-US" sz="2600" dirty="0">
                    <a:solidFill>
                      <a:srgbClr val="000000"/>
                    </a:solidFill>
                  </a:rPr>
                  <a:t>included both rotation-only (Rx, Ry, Rz) and universal ansatz with a single layer (p = 1), maintaining a structure shallow enough to avoid barren plateaus [4].</a:t>
                </a:r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:endParaRPr lang="en-US" sz="2600" noProof="0" dirty="0">
                  <a:solidFill>
                    <a:srgbClr val="000000"/>
                  </a:solidFill>
                </a:endParaRPr>
              </a:p>
              <a:p>
                <a:pPr marL="0" marR="0" indent="0" algn="ctr" defTabSz="1109603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6800" b="0" i="0" u="none" strike="noStrike" cap="none" spc="136" normalizeH="0" baseline="0" noProof="0" dirty="0">
                  <a:ln>
                    <a:noFill/>
                  </a:ln>
                  <a:solidFill>
                    <a:schemeClr val="accent1">
                      <a:satOff val="74278"/>
                      <a:lumOff val="-33241"/>
                    </a:schemeClr>
                  </a:solidFill>
                  <a:effectLst/>
                  <a:uFillTx/>
                  <a:latin typeface="Graphik Medium"/>
                  <a:ea typeface="Graphik Medium"/>
                  <a:cs typeface="Graphik Medium"/>
                  <a:sym typeface="Graphik Medium"/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4F68FC-3B50-C1A4-7B86-AF9E0FF81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554" y="14594400"/>
                <a:ext cx="14056418" cy="9297919"/>
              </a:xfrm>
              <a:prstGeom prst="rect">
                <a:avLst/>
              </a:prstGeom>
              <a:blipFill>
                <a:blip r:embed="rId7"/>
                <a:stretch>
                  <a:fillRect l="-867"/>
                </a:stretch>
              </a:blipFill>
              <a:ln w="3175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4A365A4-1B2A-7C8A-1C00-806CC96FB09E}"/>
              </a:ext>
            </a:extLst>
          </p:cNvPr>
          <p:cNvSpPr txBox="1"/>
          <p:nvPr/>
        </p:nvSpPr>
        <p:spPr>
          <a:xfrm>
            <a:off x="12414114" y="25954106"/>
            <a:ext cx="13944600" cy="732930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noProof="0" dirty="0">
                <a:solidFill>
                  <a:srgbClr val="000000"/>
                </a:solidFill>
              </a:rPr>
              <a:t>The proposed QANS model was validated through a series of experiments on different graph categories </a:t>
            </a:r>
            <a:r>
              <a:rPr lang="en-US" sz="2600" dirty="0">
                <a:solidFill>
                  <a:srgbClr val="000000"/>
                </a:solidFill>
              </a:rPr>
              <a:t>(</a:t>
            </a:r>
            <a:r>
              <a:rPr lang="en-US" sz="2600" noProof="0" dirty="0">
                <a:solidFill>
                  <a:srgbClr val="000000"/>
                </a:solidFill>
              </a:rPr>
              <a:t>complete graphs, Erdős–Rényi graphs, complete binary trees, and random regular graphs) considering instances with up to 10 nodes. Tests included both rotation-only (Rx, Ry, Rz) and universal ansatz with a single layer (p = 1).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noProof="0" dirty="0">
                <a:solidFill>
                  <a:srgbClr val="000000"/>
                </a:solidFill>
              </a:rPr>
              <a:t>The performance of QANS was compared with vanilla QAOA and multiangle QAOA, each tested up to p = 10 layers. QANS consistently outperformed both baselines, achieving an average 7% improvement over vanilla QAOA with p=10 and more than 5% over multiangle QAOA  with p=10.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noProof="0" dirty="0">
                <a:solidFill>
                  <a:srgbClr val="000000"/>
                </a:solidFill>
              </a:rPr>
              <a:t>Analysis of the measurement outcomes (Fig. 2 and Fig.3) for Erdős–Rényi and complete graphs with n = 10 nodes shows that QANS identifies the optimal solution with significantly higher frequency. Moreover, it requires less than one tenth of the </a:t>
            </a:r>
            <a:r>
              <a:rPr lang="en-US" sz="2600" dirty="0">
                <a:solidFill>
                  <a:srgbClr val="000000"/>
                </a:solidFill>
              </a:rPr>
              <a:t>gate</a:t>
            </a:r>
            <a:r>
              <a:rPr lang="en-US" sz="2600" noProof="0" dirty="0">
                <a:solidFill>
                  <a:srgbClr val="000000"/>
                </a:solidFill>
              </a:rPr>
              <a:t> counts of QAOA vanilla and QAOA multiangle, confirming that QANS not only delivers strong performance but also maintains a compact, NISQ-compatible structure.</a:t>
            </a:r>
          </a:p>
          <a:p>
            <a:pPr marL="0" marR="0" indent="0" algn="l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430C1E5-9302-7BBE-51E3-96515C896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40800" y="34411941"/>
            <a:ext cx="16023286" cy="191479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4_Briefing">
  <a:themeElements>
    <a:clrScheme name="24_Briefing">
      <a:dk1>
        <a:srgbClr val="002C3A"/>
      </a:dk1>
      <a:lt1>
        <a:srgbClr val="54818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110960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800" b="0" i="0" u="none" strike="noStrike" cap="none" spc="136" normalizeH="0" baseline="0">
            <a:ln>
              <a:noFill/>
            </a:ln>
            <a:solidFill>
              <a:schemeClr val="accent1">
                <a:satOff val="74278"/>
                <a:lumOff val="-33241"/>
              </a:schemeClr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4_Briefing">
  <a:themeElements>
    <a:clrScheme name="24_Briefing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110960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800" b="0" i="0" u="none" strike="noStrike" cap="none" spc="136" normalizeH="0" baseline="0">
            <a:ln>
              <a:noFill/>
            </a:ln>
            <a:solidFill>
              <a:schemeClr val="accent1">
                <a:satOff val="74278"/>
                <a:lumOff val="-33241"/>
              </a:schemeClr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1710</TotalTime>
  <Words>770</Words>
  <Application>Microsoft Office PowerPoint</Application>
  <PresentationFormat>Personalizzato</PresentationFormat>
  <Paragraphs>47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Arial</vt:lpstr>
      <vt:lpstr>Cambria Math</vt:lpstr>
      <vt:lpstr>Graphik</vt:lpstr>
      <vt:lpstr>Graphik Medium</vt:lpstr>
      <vt:lpstr>Helvetica Neue</vt:lpstr>
      <vt:lpstr>24_Briefing</vt:lpstr>
      <vt:lpstr>Is QAOA the Ultimate Solution  for the MaxCut problem?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Evolving Hybrid Quantum-Classical GRU Architecture for Multivariate Time Series</dc:title>
  <dc:creator>Doolin Dalton</dc:creator>
  <cp:lastModifiedBy>Francesca De Falco</cp:lastModifiedBy>
  <cp:revision>43</cp:revision>
  <dcterms:modified xsi:type="dcterms:W3CDTF">2025-11-12T20:19:03Z</dcterms:modified>
</cp:coreProperties>
</file>